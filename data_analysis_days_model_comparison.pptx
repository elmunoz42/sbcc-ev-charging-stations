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86ff9bb2a04e38" /><Relationship Type="http://schemas.openxmlformats.org/officeDocument/2006/relationships/extended-properties" Target="/docProps/app.xml" Id="R2dc26079e3c94c45" /><Relationship Type="http://schemas.openxmlformats.org/officeDocument/2006/relationships/officeDocument" Target="/ppt/presentation.xml" Id="R636db5195fac4b0d" /></Relationships>
</file>

<file path=ppt/presentation.xml><?xml version="1.0" encoding="utf-8"?>
<p:presentation xmlns:p="http://schemas.openxmlformats.org/presentationml/2006/main">
  <p:sldMasterIdLst>
    <p:sldMasterId xmlns:r="http://schemas.openxmlformats.org/officeDocument/2006/relationships" id="2147483648" r:id="R84b923d792c4429f"/>
  </p:sldMasterIdLst>
  <p:notesMasterIdLst>
    <p:notesMasterId xmlns:r="http://schemas.openxmlformats.org/officeDocument/2006/relationships" r:id="Ra851746001e445bd"/>
  </p:notesMasterIdLst>
  <p:sldIdLst>
    <p:sldId xmlns:r="http://schemas.openxmlformats.org/officeDocument/2006/relationships" id="256" r:id="Rb9275106fe7d49a9"/>
    <p:sldId xmlns:r="http://schemas.openxmlformats.org/officeDocument/2006/relationships" id="257" r:id="R1b8dcafca2434f2c"/>
    <p:sldId xmlns:r="http://schemas.openxmlformats.org/officeDocument/2006/relationships" id="258" r:id="R8256a7343be344f2"/>
    <p:sldId xmlns:r="http://schemas.openxmlformats.org/officeDocument/2006/relationships" id="259" r:id="Rddbad13fd5184eb0"/>
    <p:sldId xmlns:r="http://schemas.openxmlformats.org/officeDocument/2006/relationships" id="260" r:id="Rfb54c705a477443c"/>
    <p:sldId xmlns:r="http://schemas.openxmlformats.org/officeDocument/2006/relationships" id="261" r:id="Rb264fa36ba404a64"/>
    <p:sldId xmlns:r="http://schemas.openxmlformats.org/officeDocument/2006/relationships" id="262" r:id="Rf1b11c6f356043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8ea8006e084e46" /><Relationship Type="http://schemas.openxmlformats.org/officeDocument/2006/relationships/slideMaster" Target="/ppt/slideMasters/slideMaster1.xml" Id="R84b923d792c4429f" /><Relationship Type="http://schemas.openxmlformats.org/officeDocument/2006/relationships/notesMaster" Target="/ppt/notesMasters/notesMaster1.xml" Id="Ra851746001e445bd" /><Relationship Type="http://schemas.openxmlformats.org/officeDocument/2006/relationships/presProps" Target="/ppt/presProps.xml" Id="Rd64fc6c4f4044984" /><Relationship Type="http://schemas.openxmlformats.org/officeDocument/2006/relationships/tableStyles" Target="/ppt/tableStyles.xml" Id="Rbf698a6a0aed4ed2" /><Relationship Type="http://schemas.openxmlformats.org/officeDocument/2006/relationships/slide" Target="/ppt/slides/slide1.xml" Id="Rb9275106fe7d49a9" /><Relationship Type="http://schemas.openxmlformats.org/officeDocument/2006/relationships/slide" Target="/ppt/slides/slide2.xml" Id="R1b8dcafca2434f2c" /><Relationship Type="http://schemas.openxmlformats.org/officeDocument/2006/relationships/slide" Target="/ppt/slides/slide3.xml" Id="R8256a7343be344f2" /><Relationship Type="http://schemas.openxmlformats.org/officeDocument/2006/relationships/slide" Target="/ppt/slides/slide4.xml" Id="Rddbad13fd5184eb0" /><Relationship Type="http://schemas.openxmlformats.org/officeDocument/2006/relationships/slide" Target="/ppt/slides/slide5.xml" Id="Rfb54c705a477443c" /><Relationship Type="http://schemas.openxmlformats.org/officeDocument/2006/relationships/slide" Target="/ppt/slides/slide6.xml" Id="Rb264fa36ba404a64" /><Relationship Type="http://schemas.openxmlformats.org/officeDocument/2006/relationships/slide" Target="/ppt/slides/slide7.xml" Id="Rf1b11c6f356043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f9f03889f747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f09cb198f74173" /><Relationship Type="http://schemas.openxmlformats.org/officeDocument/2006/relationships/notesMaster" Target="/ppt/notesMasters/notesMaster1.xml" Id="Rf12d880d7c2d48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32c62faf9c4451" /><Relationship Type="http://schemas.openxmlformats.org/officeDocument/2006/relationships/notesMaster" Target="/ppt/notesMasters/notesMaster1.xml" Id="R40b3663b7c434c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fbfc53880549d7" /><Relationship Type="http://schemas.openxmlformats.org/officeDocument/2006/relationships/notesMaster" Target="/ppt/notesMasters/notesMaster1.xml" Id="R21737ff61cab4c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e91a275f0f45b4" /><Relationship Type="http://schemas.openxmlformats.org/officeDocument/2006/relationships/notesMaster" Target="/ppt/notesMasters/notesMaster1.xml" Id="R5a60d024b3c249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c25b8cd35045d9" /><Relationship Type="http://schemas.openxmlformats.org/officeDocument/2006/relationships/notesMaster" Target="/ppt/notesMasters/notesMaster1.xml" Id="R9ecef268f43e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3c9e8705bd4fb0" /><Relationship Type="http://schemas.openxmlformats.org/officeDocument/2006/relationships/notesMaster" Target="/ppt/notesMasters/notesMaster1.xml" Id="R4491b8bd77da4c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5d808c718642f0" /><Relationship Type="http://schemas.openxmlformats.org/officeDocument/2006/relationships/notesMaster" Target="/ppt/notesMasters/notesMaster1.xml" Id="Ra464b24718f849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notebook asks which model best forecasts daily energy delivered by Santa Barbara County's EV charging network?</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a:p xmlns:a="http://schemas.openxmlformats.org/drawingml/2006/main">
            <a:r>
              <a:t>- /Users/carlosm.kampff/Desktop/dev/sbcc-ev-charging-stations/images/days/tft_forecast.jpg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models train on eleven hundred seventy days, then forecast the next five hundred two without seeing any test observation. That long horizon is deliberately difficult.</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a:p xmlns:a="http://schemas.openxmlformats.org/drawingml/2006/main">
            <a:r>
              <a:t>- /Users/carlosm.kampff/Desktop/dev/sbcc-ev-charging-stations/images/days/scope_harmonisation.jpg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STL ARIMA separates seasonality and trend. The RNN uses thirty days of energy history and forecasts recursively. TFT uses ninety days of history plus calendar features, and emits the full horizon in one pass.</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STL ARIMA scores RMSE nine hundred four point nine five. The RNN finishes last at nine hundred eighty three point nine one. TFT scores five hundred forty four point three three: thirty nine point eight percent better than STL ARIMA, and forty four point seven percent better than the RNN.</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five hundred two recursive steps, the RNN's error compounds. STL ARIMA projects a fitted linear trend through a period that rises and then falls. TFT avoids recursive drift and an explicit extrapolated trend.</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a:p xmlns:a="http://schemas.openxmlformats.org/drawingml/2006/main">
            <a:r>
              <a:t>- /Users/carlosm.kampff/Desktop/dev/sbcc-ev-charging-stations/images/days/tft_forecast.jpg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TFT anchors the level on recent observed energy, then shapes the future with annual seasonality. But the nominal eighty percent interval covered only fifty percent of actual days, and percentage error remained high on low-demand days.</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a:p xmlns:a="http://schemas.openxmlformats.org/drawingml/2006/main">
            <a:r>
              <a:t>- /Users/carlosm.kampff/Desktop/dev/sbcc-ev-charging-stations/images/days/tft_interpretability.jpg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TFT as the leading candidate, not a finished production model. Validate it across seeds and rolling origins, shorten the horizon, forecast each site separately, recalibrate intervals, and keep naive baselines visible.</a:t>
            </a:r>
          </a:p>
          <a:p xmlns:a="http://schemas.openxmlformats.org/drawingml/2006/main">
            <a:r>
              <a:t/>
            </a:r>
          </a:p>
          <a:p xmlns:a="http://schemas.openxmlformats.org/drawingml/2006/main">
            <a:r>
              <a:t>[Sources]</a:t>
            </a:r>
          </a:p>
          <a:p xmlns:a="http://schemas.openxmlformats.org/drawingml/2006/main">
            <a:r>
              <a:t>- /Users/carlosm.kampff/Desktop/dev/sbcc-ev-charging-stations/data_analysis_days_colab.ipynb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d33a302b574e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a6d497afcb4751" /><Relationship Type="http://schemas.openxmlformats.org/officeDocument/2006/relationships/slideLayout" Target="/ppt/slideLayouts/slideLayout1.xml" Id="R75e7f9ee26cb47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e7f9ee26cb47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242340ea644cda" /><Relationship Type="http://schemas.openxmlformats.org/officeDocument/2006/relationships/image" Target="/ppt/media/image.jpeg" Id="Re63758906e77401e" /><Relationship Type="http://schemas.openxmlformats.org/officeDocument/2006/relationships/notesSlide" Target="/ppt/notesSlides/notesSlide1.xml" Id="Ra05ca19135f54b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7ea89a4fa74e2c" /><Relationship Type="http://schemas.openxmlformats.org/officeDocument/2006/relationships/image" Target="/ppt/media/image2.jpeg" Id="Rf5c5a53652b6461b" /><Relationship Type="http://schemas.openxmlformats.org/officeDocument/2006/relationships/notesSlide" Target="/ppt/notesSlides/notesSlide2.xml" Id="R18ec13858d6d4f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e5255f52c34314" /><Relationship Type="http://schemas.openxmlformats.org/officeDocument/2006/relationships/notesSlide" Target="/ppt/notesSlides/notesSlide3.xml" Id="Refbc8685688f45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509f0e10ba4c44" /><Relationship Type="http://schemas.openxmlformats.org/officeDocument/2006/relationships/chart" Target="/ppt/slides/charts/chart1.xml" Id="Rc9e91be9751c40c1" /><Relationship Type="http://schemas.openxmlformats.org/officeDocument/2006/relationships/notesSlide" Target="/ppt/notesSlides/notesSlide4.xml" Id="R0c9731da2cf043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24c005a48f4334" /><Relationship Type="http://schemas.openxmlformats.org/officeDocument/2006/relationships/image" Target="/ppt/media/image3.jpeg" Id="Rb3a03f6a66b049db" /><Relationship Type="http://schemas.openxmlformats.org/officeDocument/2006/relationships/notesSlide" Target="/ppt/notesSlides/notesSlide5.xml" Id="Rc60b34cb17ca45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20e92989ce4eec" /><Relationship Type="http://schemas.openxmlformats.org/officeDocument/2006/relationships/image" Target="/ppt/media/image4.jpeg" Id="R8930aa9c61314432" /><Relationship Type="http://schemas.openxmlformats.org/officeDocument/2006/relationships/notesSlide" Target="/ppt/notesSlides/notesSlide6.xml" Id="R9bda0c7a8f2240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2c3b0c03664b48" /><Relationship Type="http://schemas.openxmlformats.org/officeDocument/2006/relationships/notesSlide" Target="/ppt/notesSlides/notesSlide7.xml" Id="R8e387758386049c8" /></Relationships>
</file>

<file path=ppt/slides/charts/chart1.xml><?xml version="1.0" encoding="utf-8"?>
<c:chartSpace xmlns:c="http://schemas.openxmlformats.org/drawingml/2006/chart">
  <c:lang val="en-US"/>
  <c:chart>
    <c:plotArea>
      <c:barChart>
        <c:barDir val="col"/>
        <c:grouping val="clustered"/>
        <c:varyColors val="0"/>
        <c:ser>
          <c:idx val="0"/>
          <c:order val="0"/>
          <c:tx>
            <c:v>RMSE</c:v>
          </c:tx>
          <c:spPr>
            <a:solidFill xmlns:a="http://schemas.openxmlformats.org/drawingml/2006/main">
              <a:srgbClr val="3D8DFF"/>
            </a:solidFill>
          </c:spPr>
          <c:cat>
            <c:strLit>
              <c:ptCount val="3"/>
              <c:pt idx="0">
                <c:v>TFT</c:v>
              </c:pt>
              <c:pt idx="1">
                <c:v>STL-ARIMA</c:v>
              </c:pt>
              <c:pt idx="2">
                <c:v>RNN</c:v>
              </c:pt>
            </c:strLit>
          </c:cat>
          <c:val>
            <c:numLit>
              <c:formatCode>General</c:formatCode>
              <c:ptCount val="3"/>
              <c:pt idx="0">
                <c:v>544.33</c:v>
              </c:pt>
              <c:pt idx="1">
                <c:v>904.95</c:v>
              </c:pt>
              <c:pt idx="2">
                <c:v>983.91</c:v>
              </c:pt>
            </c:numLit>
          </c:val>
        </c:ser>
        <c:dLbls>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B0D10"/>
                </a:solidFill>
                <a:latin typeface="Helvetica Neue"/>
                <a:ea typeface="Helvetica Neue"/>
                <a:cs typeface="Helvetica Neue"/>
              </a:defRPr>
            </a:pPr>
          </a:p>
        </c:txPr>
        <c:crossAx val="48672768"/>
      </c:catAx>
      <c:valAx>
        <c:axId val="48672768"/>
        <c:scaling>
          <c:orientation val="minMax"/>
          <c:max val="11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E6673"/>
                </a:solidFill>
                <a:latin typeface="Helvetica Neue"/>
                <a:ea typeface="Helvetica Neue"/>
                <a:cs typeface="Helvetica Neue"/>
              </a:defRPr>
            </a:pPr>
          </a:p>
        </c:txPr>
        <c:crossAx val="48650112"/>
        <c:crossBetween val="between"/>
        <c:majorUnit val="25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50A1EB-E5D5-47E8-AF52-CF90D1F6098E}"/>
              </a:ext>
            </a:extLst>
          </p:cNvPr>
          <p:cNvSpPr>
            <a:spLocks xmlns:a="http://schemas.openxmlformats.org/drawingml/2006/main" noGrp="1"/>
          </p:cNvSpPr>
          <p:nvPr/>
        </p:nvSpPr>
        <p:spPr>
          <a:xfrm xmlns:a="http://schemas.openxmlformats.org/drawingml/2006/main">
            <a:off x="457200" y="419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NOTEBOOK MODEL COMPARISON</a:t>
            </a:r>
          </a:p>
        </p:txBody>
      </p:sp>
      <p:sp>
        <p:nvSpPr>
          <p:cNvPr id="2" name="">
            <a:extLst xmlns:a="http://schemas.openxmlformats.org/drawingml/2006/main">
              <a:ext uri="{FF2B5EF4-FFF2-40B4-BE49-F238E27FC236}">
                <a16:creationId xmlns:a16="http://schemas.microsoft.com/office/drawing/2014/main" id="{B69F307F-FB4E-4B58-9BA1-8FB4BC53A0D0}"/>
              </a:ext>
            </a:extLst>
          </p:cNvPr>
          <p:cNvSpPr>
            <a:spLocks xmlns:a="http://schemas.openxmlformats.org/drawingml/2006/main" noGrp="1"/>
          </p:cNvSpPr>
          <p:nvPr/>
        </p:nvSpPr>
        <p:spPr>
          <a:xfrm xmlns:a="http://schemas.openxmlformats.org/drawingml/2006/main">
            <a:off x="457200" y="121920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800" b="1">
                <a:solidFill>
                  <a:srgbClr val="0B0D10"/>
                </a:solidFill>
                <a:latin typeface="Helvetica Neue"/>
                <a:ea typeface="Helvetica Neue"/>
                <a:cs typeface="Helvetica Neue"/>
              </a:defRPr>
            </a:pPr>
            <a:r>
              <a:rPr sz="4800" b="1">
                <a:solidFill>
                  <a:srgbClr val="0B0D10"/>
                </a:solidFill>
                <a:latin typeface="Helvetica Neue"/>
                <a:ea typeface="Helvetica Neue"/>
                <a:cs typeface="Helvetica Neue"/>
              </a:rPr>
              <a:t>Forecasting EV charging demand</a:t>
            </a:r>
          </a:p>
        </p:txBody>
      </p:sp>
      <p:sp>
        <p:nvSpPr>
          <p:cNvPr id="3" name="">
            <a:extLst xmlns:a="http://schemas.openxmlformats.org/drawingml/2006/main">
              <a:ext uri="{FF2B5EF4-FFF2-40B4-BE49-F238E27FC236}">
                <a16:creationId xmlns:a16="http://schemas.microsoft.com/office/drawing/2014/main" id="{331A0F31-E107-44CB-964D-151B62B56130}"/>
              </a:ext>
            </a:extLst>
          </p:cNvPr>
          <p:cNvSpPr>
            <a:spLocks xmlns:a="http://schemas.openxmlformats.org/drawingml/2006/main" noGrp="1"/>
          </p:cNvSpPr>
          <p:nvPr/>
        </p:nvSpPr>
        <p:spPr>
          <a:xfrm xmlns:a="http://schemas.openxmlformats.org/drawingml/2006/main">
            <a:off x="457200" y="32385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0">
                <a:solidFill>
                  <a:srgbClr val="5E6673"/>
                </a:solidFill>
                <a:latin typeface="Helvetica Neue"/>
                <a:ea typeface="Helvetica Neue"/>
                <a:cs typeface="Helvetica Neue"/>
              </a:defRPr>
            </a:pPr>
            <a:r>
              <a:rPr sz="2250" b="0">
                <a:solidFill>
                  <a:srgbClr val="5E6673"/>
                </a:solidFill>
                <a:latin typeface="Helvetica Neue"/>
                <a:ea typeface="Helvetica Neue"/>
                <a:cs typeface="Helvetica Neue"/>
              </a:rPr>
              <a:t>STL‑ARIMA vs RNN vs Temporal Fusion Transformer</a:t>
            </a:r>
          </a:p>
        </p:txBody>
      </p:sp>
      <p:sp>
        <p:nvSpPr>
          <p:cNvPr id="4" name="">
            <a:extLst xmlns:a="http://schemas.openxmlformats.org/drawingml/2006/main">
              <a:ext uri="{FF2B5EF4-FFF2-40B4-BE49-F238E27FC236}">
                <a16:creationId xmlns:a16="http://schemas.microsoft.com/office/drawing/2014/main" id="{C63FB864-5518-4589-9EBD-C65441412F7A}"/>
              </a:ext>
            </a:extLst>
          </p:cNvPr>
          <p:cNvSpPr>
            <a:spLocks xmlns:a="http://schemas.openxmlformats.org/drawingml/2006/main" noGrp="1"/>
          </p:cNvSpPr>
          <p:nvPr/>
        </p:nvSpPr>
        <p:spPr>
          <a:xfrm xmlns:a="http://schemas.openxmlformats.org/drawingml/2006/main">
            <a:off x="457200" y="5448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E6673"/>
                </a:solidFill>
                <a:latin typeface="Helvetica Neue"/>
                <a:ea typeface="Helvetica Neue"/>
                <a:cs typeface="Helvetica Neue"/>
              </a:defRPr>
            </a:pPr>
            <a:r>
              <a:rPr sz="1500" b="0">
                <a:solidFill>
                  <a:srgbClr val="5E6673"/>
                </a:solidFill>
                <a:latin typeface="Helvetica Neue"/>
                <a:ea typeface="Helvetica Neue"/>
                <a:cs typeface="Helvetica Neue"/>
              </a:rPr>
              <a:t>Santa Barbara County · daily energy delivered</a:t>
            </a:r>
          </a:p>
        </p:txBody>
      </p:sp>
      <p:sp>
        <p:nvSpPr>
          <p:cNvPr id="5" name="">
            <a:extLst xmlns:a="http://schemas.openxmlformats.org/drawingml/2006/main">
              <a:ext uri="{FF2B5EF4-FFF2-40B4-BE49-F238E27FC236}">
                <a16:creationId xmlns:a16="http://schemas.microsoft.com/office/drawing/2014/main" id="{DDAD14AF-8051-43A6-8A95-CC0C1F8BAB31}"/>
              </a:ext>
            </a:extLst>
          </p:cNvPr>
          <p:cNvSpPr>
            <a:spLocks xmlns:a="http://schemas.openxmlformats.org/drawingml/2006/main" noGrp="1"/>
          </p:cNvSpPr>
          <p:nvPr/>
        </p:nvSpPr>
        <p:spPr>
          <a:xfrm xmlns:a="http://schemas.openxmlformats.org/drawingml/2006/main">
            <a:off x="5981700" y="400050"/>
            <a:ext cx="5753100" cy="5600700"/>
          </a:xfrm>
          <a:prstGeom xmlns:a="http://schemas.openxmlformats.org/drawingml/2006/main" prst="roundRect">
            <a:avLst>
              <a:gd name="adj" fmla="val 2381"/>
            </a:avLst>
          </a:prstGeom>
          <a:solidFill xmlns:a="http://schemas.openxmlformats.org/drawingml/2006/main">
            <a:srgbClr val="F4F7FA"/>
          </a:solidFill>
          <a:ln xmlns:a="http://schemas.openxmlformats.org/drawingml/2006/main" w="9525">
            <a:solidFill>
              <a:srgbClr val="B8BCC4"/>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63758906e77401e"/>
          <a:stretch xmlns:a="http://schemas.openxmlformats.org/drawingml/2006/main"/>
        </p:blipFill>
        <p:spPr>
          <a:xfrm xmlns:a="http://schemas.openxmlformats.org/drawingml/2006/main">
            <a:off x="6191250" y="1831975"/>
            <a:ext cx="5334000" cy="24892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DDB3051-04DC-4DEE-9186-BEB41F0B7D2D}"/>
              </a:ext>
            </a:extLst>
          </p:cNvPr>
          <p:cNvSpPr>
            <a:spLocks xmlns:a="http://schemas.openxmlformats.org/drawingml/2006/main" noGrp="1"/>
          </p:cNvSpPr>
          <p:nvPr/>
        </p:nvSpPr>
        <p:spPr>
          <a:xfrm xmlns:a="http://schemas.openxmlformats.org/drawingml/2006/main">
            <a:off x="6343650" y="5257800"/>
            <a:ext cx="5010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7A4CC2"/>
                </a:solidFill>
                <a:latin typeface="Helvetica Neue"/>
                <a:ea typeface="Helvetica Neue"/>
                <a:cs typeface="Helvetica Neue"/>
              </a:defRPr>
            </a:pPr>
            <a:r>
              <a:rPr sz="1800" b="1">
                <a:solidFill>
                  <a:srgbClr val="7A4CC2"/>
                </a:solidFill>
                <a:latin typeface="Helvetica Neue"/>
                <a:ea typeface="Helvetica Neue"/>
                <a:cs typeface="Helvetica Neue"/>
              </a:rPr>
              <a:t>TFT wins on RMSE — with important caveats</a:t>
            </a:r>
          </a:p>
        </p:txBody>
      </p:sp>
    </p:spTree>
    <p:extLst>
      <p:ext uri="{BB962C8B-B14F-4D97-AF65-F5344CB8AC3E}">
        <p14:creationId xmlns:p14="http://schemas.microsoft.com/office/powerpoint/2010/main" val="9221847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E50D55-96C2-4F3D-BB1E-7F80B920A07E}"/>
              </a:ext>
            </a:extLst>
          </p:cNvPr>
          <p:cNvSpPr>
            <a:spLocks xmlns:a="http://schemas.openxmlformats.org/drawingml/2006/main" noGrp="1"/>
          </p:cNvSpPr>
          <p:nvPr/>
        </p:nvSpPr>
        <p:spPr>
          <a:xfrm xmlns:a="http://schemas.openxmlformats.org/drawingml/2006/main">
            <a:off x="457200" y="28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EVALUATION DESIGN</a:t>
            </a:r>
          </a:p>
        </p:txBody>
      </p:sp>
      <p:sp>
        <p:nvSpPr>
          <p:cNvPr id="2" name="">
            <a:extLst xmlns:a="http://schemas.openxmlformats.org/drawingml/2006/main">
              <a:ext uri="{FF2B5EF4-FFF2-40B4-BE49-F238E27FC236}">
                <a16:creationId xmlns:a16="http://schemas.microsoft.com/office/drawing/2014/main" id="{092985CB-CBFE-4EA3-ACEF-EBDC86858D4D}"/>
              </a:ext>
            </a:extLst>
          </p:cNvPr>
          <p:cNvSpPr>
            <a:spLocks xmlns:a="http://schemas.openxmlformats.org/drawingml/2006/main" noGrp="1"/>
          </p:cNvSpPr>
          <p:nvPr/>
        </p:nvSpPr>
        <p:spPr>
          <a:xfrm xmlns:a="http://schemas.openxmlformats.org/drawingml/2006/main">
            <a:off x="457200" y="657225"/>
            <a:ext cx="1123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B0D10"/>
                </a:solidFill>
                <a:latin typeface="Helvetica Neue"/>
                <a:ea typeface="Helvetica Neue"/>
                <a:cs typeface="Helvetica Neue"/>
              </a:defRPr>
            </a:pPr>
            <a:r>
              <a:rPr sz="3600" b="1">
                <a:solidFill>
                  <a:srgbClr val="0B0D10"/>
                </a:solidFill>
                <a:latin typeface="Helvetica Neue"/>
                <a:ea typeface="Helvetica Neue"/>
                <a:cs typeface="Helvetica Neue"/>
              </a:rPr>
              <a:t>One fair test across all three models</a:t>
            </a:r>
          </a:p>
        </p:txBody>
      </p:sp>
      <p:sp>
        <p:nvSpPr>
          <p:cNvPr id="3" name="">
            <a:extLst xmlns:a="http://schemas.openxmlformats.org/drawingml/2006/main">
              <a:ext uri="{FF2B5EF4-FFF2-40B4-BE49-F238E27FC236}">
                <a16:creationId xmlns:a16="http://schemas.microsoft.com/office/drawing/2014/main" id="{0B0407D7-5694-4106-BB72-46C15DE17342}"/>
              </a:ext>
            </a:extLst>
          </p:cNvPr>
          <p:cNvSpPr>
            <a:spLocks xmlns:a="http://schemas.openxmlformats.org/drawingml/2006/main" noGrp="1"/>
          </p:cNvSpPr>
          <p:nvPr/>
        </p:nvSpPr>
        <p:spPr>
          <a:xfrm xmlns:a="http://schemas.openxmlformats.org/drawingml/2006/main">
            <a:off x="11315700" y="64008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a:solidFill>
                  <a:srgbClr val="5E6673"/>
                </a:solidFill>
                <a:latin typeface="Helvetica Neue"/>
                <a:ea typeface="Helvetica Neue"/>
                <a:cs typeface="Helvetica Neue"/>
              </a:defRPr>
            </a:pPr>
            <a:r>
              <a:rPr sz="1125" b="0">
                <a:solidFill>
                  <a:srgbClr val="5E6673"/>
                </a:solidFill>
                <a:latin typeface="Helvetica Neue"/>
                <a:ea typeface="Helvetica Neue"/>
                <a:cs typeface="Helvetica Neue"/>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5c5a53652b6461b"/>
          <a:stretch xmlns:a="http://schemas.openxmlformats.org/drawingml/2006/main"/>
        </p:blipFill>
        <p:spPr>
          <a:xfrm xmlns:a="http://schemas.openxmlformats.org/drawingml/2006/main">
            <a:off x="457200" y="2149929"/>
            <a:ext cx="6858000" cy="293914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CF0B2B-8743-4179-8B09-B20C252EBF9A}"/>
              </a:ext>
            </a:extLst>
          </p:cNvPr>
          <p:cNvSpPr>
            <a:spLocks xmlns:a="http://schemas.openxmlformats.org/drawingml/2006/main" noGrp="1"/>
          </p:cNvSpPr>
          <p:nvPr/>
        </p:nvSpPr>
        <p:spPr>
          <a:xfrm xmlns:a="http://schemas.openxmlformats.org/drawingml/2006/main">
            <a:off x="7734300" y="1714500"/>
            <a:ext cx="3619500" cy="1200150"/>
          </a:xfrm>
          <a:prstGeom xmlns:a="http://schemas.openxmlformats.org/drawingml/2006/main" prst="roundRect">
            <a:avLst>
              <a:gd name="adj" fmla="val 7937"/>
            </a:avLst>
          </a:prstGeom>
          <a:solidFill xmlns:a="http://schemas.openxmlformats.org/drawingml/2006/main">
            <a:srgbClr val="F3F7FD"/>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178FD484-60EB-4B85-A4CB-1052485E0F57}"/>
              </a:ext>
            </a:extLst>
          </p:cNvPr>
          <p:cNvSpPr>
            <a:spLocks xmlns:a="http://schemas.openxmlformats.org/drawingml/2006/main" noGrp="1"/>
          </p:cNvSpPr>
          <p:nvPr/>
        </p:nvSpPr>
        <p:spPr>
          <a:xfrm xmlns:a="http://schemas.openxmlformats.org/drawingml/2006/main">
            <a:off x="8001000" y="1952625"/>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3D8DFF"/>
                </a:solidFill>
                <a:latin typeface="Helvetica Neue"/>
                <a:ea typeface="Helvetica Neue"/>
                <a:cs typeface="Helvetica Neue"/>
              </a:defRPr>
            </a:pPr>
            <a:r>
              <a:rPr sz="2850" b="1">
                <a:solidFill>
                  <a:srgbClr val="3D8DFF"/>
                </a:solidFill>
                <a:latin typeface="Helvetica Neue"/>
                <a:ea typeface="Helvetica Neue"/>
                <a:cs typeface="Helvetica Neue"/>
              </a:rPr>
              <a:t>1,170 days</a:t>
            </a:r>
          </a:p>
        </p:txBody>
      </p:sp>
      <p:sp>
        <p:nvSpPr>
          <p:cNvPr id="7" name="">
            <a:extLst xmlns:a="http://schemas.openxmlformats.org/drawingml/2006/main">
              <a:ext uri="{FF2B5EF4-FFF2-40B4-BE49-F238E27FC236}">
                <a16:creationId xmlns:a16="http://schemas.microsoft.com/office/drawing/2014/main" id="{33622B42-424D-469B-87B6-454967451CB4}"/>
              </a:ext>
            </a:extLst>
          </p:cNvPr>
          <p:cNvSpPr>
            <a:spLocks xmlns:a="http://schemas.openxmlformats.org/drawingml/2006/main" noGrp="1"/>
          </p:cNvSpPr>
          <p:nvPr/>
        </p:nvSpPr>
        <p:spPr>
          <a:xfrm xmlns:a="http://schemas.openxmlformats.org/drawingml/2006/main">
            <a:off x="8001000" y="2476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E6673"/>
                </a:solidFill>
                <a:latin typeface="Helvetica Neue"/>
                <a:ea typeface="Helvetica Neue"/>
                <a:cs typeface="Helvetica Neue"/>
              </a:defRPr>
            </a:pPr>
            <a:r>
              <a:rPr sz="1425" b="0">
                <a:solidFill>
                  <a:srgbClr val="5E6673"/>
                </a:solidFill>
                <a:latin typeface="Helvetica Neue"/>
                <a:ea typeface="Helvetica Neue"/>
                <a:cs typeface="Helvetica Neue"/>
              </a:rPr>
              <a:t>training · 2022-01-01 to 2025-03-15</a:t>
            </a:r>
          </a:p>
        </p:txBody>
      </p:sp>
      <p:sp>
        <p:nvSpPr>
          <p:cNvPr id="8" name="">
            <a:extLst xmlns:a="http://schemas.openxmlformats.org/drawingml/2006/main">
              <a:ext uri="{FF2B5EF4-FFF2-40B4-BE49-F238E27FC236}">
                <a16:creationId xmlns:a16="http://schemas.microsoft.com/office/drawing/2014/main" id="{74EB8096-6927-4047-853E-D8A139C17459}"/>
              </a:ext>
            </a:extLst>
          </p:cNvPr>
          <p:cNvSpPr>
            <a:spLocks xmlns:a="http://schemas.openxmlformats.org/drawingml/2006/main" noGrp="1"/>
          </p:cNvSpPr>
          <p:nvPr/>
        </p:nvSpPr>
        <p:spPr>
          <a:xfrm xmlns:a="http://schemas.openxmlformats.org/drawingml/2006/main">
            <a:off x="7734300" y="3105150"/>
            <a:ext cx="3619500" cy="1200150"/>
          </a:xfrm>
          <a:prstGeom xmlns:a="http://schemas.openxmlformats.org/drawingml/2006/main" prst="roundRect">
            <a:avLst>
              <a:gd name="adj" fmla="val 7937"/>
            </a:avLst>
          </a:prstGeom>
          <a:solidFill xmlns:a="http://schemas.openxmlformats.org/drawingml/2006/main">
            <a:srgbClr val="F8F4FC"/>
          </a:solidFill>
          <a:ln xmlns:a="http://schemas.openxmlformats.org/drawingml/2006/main" w="9525">
            <a:solidFill>
              <a:srgbClr val="CDB8E8"/>
            </a:solidFill>
            <a:prstDash val="solid"/>
          </a:ln>
        </p:spPr>
      </p:sp>
      <p:sp>
        <p:nvSpPr>
          <p:cNvPr id="9" name="">
            <a:extLst xmlns:a="http://schemas.openxmlformats.org/drawingml/2006/main">
              <a:ext uri="{FF2B5EF4-FFF2-40B4-BE49-F238E27FC236}">
                <a16:creationId xmlns:a16="http://schemas.microsoft.com/office/drawing/2014/main" id="{8B8C60DA-FF16-41BE-89B4-02AB10835EF4}"/>
              </a:ext>
            </a:extLst>
          </p:cNvPr>
          <p:cNvSpPr>
            <a:spLocks xmlns:a="http://schemas.openxmlformats.org/drawingml/2006/main" noGrp="1"/>
          </p:cNvSpPr>
          <p:nvPr/>
        </p:nvSpPr>
        <p:spPr>
          <a:xfrm xmlns:a="http://schemas.openxmlformats.org/drawingml/2006/main">
            <a:off x="8001000" y="3343275"/>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7A4CC2"/>
                </a:solidFill>
                <a:latin typeface="Helvetica Neue"/>
                <a:ea typeface="Helvetica Neue"/>
                <a:cs typeface="Helvetica Neue"/>
              </a:defRPr>
            </a:pPr>
            <a:r>
              <a:rPr sz="2850" b="1">
                <a:solidFill>
                  <a:srgbClr val="7A4CC2"/>
                </a:solidFill>
                <a:latin typeface="Helvetica Neue"/>
                <a:ea typeface="Helvetica Neue"/>
                <a:cs typeface="Helvetica Neue"/>
              </a:rPr>
              <a:t>502 days</a:t>
            </a:r>
          </a:p>
        </p:txBody>
      </p:sp>
      <p:sp>
        <p:nvSpPr>
          <p:cNvPr id="10" name="">
            <a:extLst xmlns:a="http://schemas.openxmlformats.org/drawingml/2006/main">
              <a:ext uri="{FF2B5EF4-FFF2-40B4-BE49-F238E27FC236}">
                <a16:creationId xmlns:a16="http://schemas.microsoft.com/office/drawing/2014/main" id="{D1EEAE15-4845-47D7-AB69-5D6D05481B91}"/>
              </a:ext>
            </a:extLst>
          </p:cNvPr>
          <p:cNvSpPr>
            <a:spLocks xmlns:a="http://schemas.openxmlformats.org/drawingml/2006/main" noGrp="1"/>
          </p:cNvSpPr>
          <p:nvPr/>
        </p:nvSpPr>
        <p:spPr>
          <a:xfrm xmlns:a="http://schemas.openxmlformats.org/drawingml/2006/main">
            <a:off x="8001000" y="38671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E6673"/>
                </a:solidFill>
                <a:latin typeface="Helvetica Neue"/>
                <a:ea typeface="Helvetica Neue"/>
                <a:cs typeface="Helvetica Neue"/>
              </a:defRPr>
            </a:pPr>
            <a:r>
              <a:rPr sz="1425" b="0">
                <a:solidFill>
                  <a:srgbClr val="5E6673"/>
                </a:solidFill>
                <a:latin typeface="Helvetica Neue"/>
                <a:ea typeface="Helvetica Neue"/>
                <a:cs typeface="Helvetica Neue"/>
              </a:rPr>
              <a:t>held out · no test observations</a:t>
            </a:r>
          </a:p>
        </p:txBody>
      </p:sp>
      <p:sp>
        <p:nvSpPr>
          <p:cNvPr id="11" name="">
            <a:extLst xmlns:a="http://schemas.openxmlformats.org/drawingml/2006/main">
              <a:ext uri="{FF2B5EF4-FFF2-40B4-BE49-F238E27FC236}">
                <a16:creationId xmlns:a16="http://schemas.microsoft.com/office/drawing/2014/main" id="{B600072D-B104-44F6-81DE-E70862FEF0B4}"/>
              </a:ext>
            </a:extLst>
          </p:cNvPr>
          <p:cNvSpPr>
            <a:spLocks xmlns:a="http://schemas.openxmlformats.org/drawingml/2006/main" noGrp="1"/>
          </p:cNvSpPr>
          <p:nvPr/>
        </p:nvSpPr>
        <p:spPr>
          <a:xfrm xmlns:a="http://schemas.openxmlformats.org/drawingml/2006/main">
            <a:off x="7734300" y="4762500"/>
            <a:ext cx="361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0B0D10"/>
                </a:solidFill>
                <a:latin typeface="Helvetica Neue"/>
                <a:ea typeface="Helvetica Neue"/>
                <a:cs typeface="Helvetica Neue"/>
              </a:defRPr>
            </a:pPr>
            <a:r>
              <a:rPr sz="2175" b="1">
                <a:solidFill>
                  <a:srgbClr val="0B0D10"/>
                </a:solidFill>
                <a:latin typeface="Helvetica Neue"/>
                <a:ea typeface="Helvetica Neue"/>
                <a:cs typeface="Helvetica Neue"/>
              </a:rPr>
              <a:t>Same origin. Same horizon. Same target.</a:t>
            </a:r>
          </a:p>
        </p:txBody>
      </p:sp>
    </p:spTree>
    <p:extLst>
      <p:ext uri="{BB962C8B-B14F-4D97-AF65-F5344CB8AC3E}">
        <p14:creationId xmlns:p14="http://schemas.microsoft.com/office/powerpoint/2010/main" val="10352611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F1E44CB-A9EA-4BAB-BE55-912C8A21016A}"/>
              </a:ext>
            </a:extLst>
          </p:cNvPr>
          <p:cNvSpPr>
            <a:spLocks xmlns:a="http://schemas.openxmlformats.org/drawingml/2006/main" noGrp="1"/>
          </p:cNvSpPr>
          <p:nvPr/>
        </p:nvSpPr>
        <p:spPr>
          <a:xfrm xmlns:a="http://schemas.openxmlformats.org/drawingml/2006/main">
            <a:off x="457200" y="28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HOW THEY FORECAST</a:t>
            </a:r>
          </a:p>
        </p:txBody>
      </p:sp>
      <p:sp>
        <p:nvSpPr>
          <p:cNvPr id="2" name="">
            <a:extLst xmlns:a="http://schemas.openxmlformats.org/drawingml/2006/main">
              <a:ext uri="{FF2B5EF4-FFF2-40B4-BE49-F238E27FC236}">
                <a16:creationId xmlns:a16="http://schemas.microsoft.com/office/drawing/2014/main" id="{1E45ED68-D969-46F1-93D8-9D3716D98536}"/>
              </a:ext>
            </a:extLst>
          </p:cNvPr>
          <p:cNvSpPr>
            <a:spLocks xmlns:a="http://schemas.openxmlformats.org/drawingml/2006/main" noGrp="1"/>
          </p:cNvSpPr>
          <p:nvPr/>
        </p:nvSpPr>
        <p:spPr>
          <a:xfrm xmlns:a="http://schemas.openxmlformats.org/drawingml/2006/main">
            <a:off x="457200" y="657225"/>
            <a:ext cx="1123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B0D10"/>
                </a:solidFill>
                <a:latin typeface="Helvetica Neue"/>
                <a:ea typeface="Helvetica Neue"/>
                <a:cs typeface="Helvetica Neue"/>
              </a:defRPr>
            </a:pPr>
            <a:r>
              <a:rPr sz="3600" b="1">
                <a:solidFill>
                  <a:srgbClr val="0B0D10"/>
                </a:solidFill>
                <a:latin typeface="Helvetica Neue"/>
                <a:ea typeface="Helvetica Neue"/>
                <a:cs typeface="Helvetica Neue"/>
              </a:rPr>
              <a:t>Three architectures, three failure modes</a:t>
            </a:r>
          </a:p>
        </p:txBody>
      </p:sp>
      <p:sp>
        <p:nvSpPr>
          <p:cNvPr id="3" name="">
            <a:extLst xmlns:a="http://schemas.openxmlformats.org/drawingml/2006/main">
              <a:ext uri="{FF2B5EF4-FFF2-40B4-BE49-F238E27FC236}">
                <a16:creationId xmlns:a16="http://schemas.microsoft.com/office/drawing/2014/main" id="{A9E26F2A-D2A5-47C5-9256-32CC9FC34997}"/>
              </a:ext>
            </a:extLst>
          </p:cNvPr>
          <p:cNvSpPr>
            <a:spLocks xmlns:a="http://schemas.openxmlformats.org/drawingml/2006/main" noGrp="1"/>
          </p:cNvSpPr>
          <p:nvPr/>
        </p:nvSpPr>
        <p:spPr>
          <a:xfrm xmlns:a="http://schemas.openxmlformats.org/drawingml/2006/main">
            <a:off x="11315700" y="64008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a:solidFill>
                  <a:srgbClr val="5E6673"/>
                </a:solidFill>
                <a:latin typeface="Helvetica Neue"/>
                <a:ea typeface="Helvetica Neue"/>
                <a:cs typeface="Helvetica Neue"/>
              </a:defRPr>
            </a:pPr>
            <a:r>
              <a:rPr sz="1125" b="0">
                <a:solidFill>
                  <a:srgbClr val="5E667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BBB2E880-CAB7-4819-8785-2D4E0617CB79}"/>
              </a:ext>
            </a:extLst>
          </p:cNvPr>
          <p:cNvSpPr>
            <a:spLocks xmlns:a="http://schemas.openxmlformats.org/drawingml/2006/main" noGrp="1"/>
          </p:cNvSpPr>
          <p:nvPr/>
        </p:nvSpPr>
        <p:spPr>
          <a:xfrm xmlns:a="http://schemas.openxmlformats.org/drawingml/2006/main">
            <a:off x="457200" y="1666875"/>
            <a:ext cx="3429000" cy="4114800"/>
          </a:xfrm>
          <a:prstGeom xmlns:a="http://schemas.openxmlformats.org/drawingml/2006/main" prst="roundRect">
            <a:avLst>
              <a:gd name="adj" fmla="val 2778"/>
            </a:avLst>
          </a:prstGeom>
          <a:solidFill xmlns:a="http://schemas.openxmlformats.org/drawingml/2006/main">
            <a:srgbClr val="F6F6F6"/>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E543C0CB-04E1-4026-AB62-220C3345D8CC}"/>
              </a:ext>
            </a:extLst>
          </p:cNvPr>
          <p:cNvSpPr>
            <a:spLocks xmlns:a="http://schemas.openxmlformats.org/drawingml/2006/main" noGrp="1"/>
          </p:cNvSpPr>
          <p:nvPr/>
        </p:nvSpPr>
        <p:spPr>
          <a:xfrm xmlns:a="http://schemas.openxmlformats.org/drawingml/2006/main">
            <a:off x="457200" y="1666875"/>
            <a:ext cx="3429000" cy="114300"/>
          </a:xfrm>
          <a:prstGeom xmlns:a="http://schemas.openxmlformats.org/drawingml/2006/main" prst="rect">
            <a:avLst/>
          </a:prstGeom>
          <a:solidFill xmlns:a="http://schemas.openxmlformats.org/drawingml/2006/main">
            <a:srgbClr val="2E9D64"/>
          </a:solidFill>
          <a:ln xmlns:a="http://schemas.openxmlformats.org/drawingml/2006/main" w="9525">
            <a:solidFill>
              <a:srgbClr val="2E9D64"/>
            </a:solidFill>
            <a:prstDash val="solid"/>
          </a:ln>
        </p:spPr>
      </p:sp>
      <p:sp>
        <p:nvSpPr>
          <p:cNvPr id="6" name="">
            <a:extLst xmlns:a="http://schemas.openxmlformats.org/drawingml/2006/main">
              <a:ext uri="{FF2B5EF4-FFF2-40B4-BE49-F238E27FC236}">
                <a16:creationId xmlns:a16="http://schemas.microsoft.com/office/drawing/2014/main" id="{3EF2CFB0-824E-4B94-8EE7-12E9C68730B4}"/>
              </a:ext>
            </a:extLst>
          </p:cNvPr>
          <p:cNvSpPr>
            <a:spLocks xmlns:a="http://schemas.openxmlformats.org/drawingml/2006/main" noGrp="1"/>
          </p:cNvSpPr>
          <p:nvPr/>
        </p:nvSpPr>
        <p:spPr>
          <a:xfrm xmlns:a="http://schemas.openxmlformats.org/drawingml/2006/main">
            <a:off x="685800" y="2038350"/>
            <a:ext cx="297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E9D64"/>
                </a:solidFill>
                <a:latin typeface="Helvetica Neue"/>
                <a:ea typeface="Helvetica Neue"/>
                <a:cs typeface="Helvetica Neue"/>
              </a:defRPr>
            </a:pPr>
            <a:r>
              <a:rPr sz="2550" b="1">
                <a:solidFill>
                  <a:srgbClr val="2E9D64"/>
                </a:solidFill>
                <a:latin typeface="Helvetica Neue"/>
                <a:ea typeface="Helvetica Neue"/>
                <a:cs typeface="Helvetica Neue"/>
              </a:rPr>
              <a:t>STL‑ARIMA</a:t>
            </a:r>
          </a:p>
        </p:txBody>
      </p:sp>
      <p:sp>
        <p:nvSpPr>
          <p:cNvPr id="7" name="">
            <a:extLst xmlns:a="http://schemas.openxmlformats.org/drawingml/2006/main">
              <a:ext uri="{FF2B5EF4-FFF2-40B4-BE49-F238E27FC236}">
                <a16:creationId xmlns:a16="http://schemas.microsoft.com/office/drawing/2014/main" id="{C8DEB843-3183-42A5-BE50-930312154F64}"/>
              </a:ext>
            </a:extLst>
          </p:cNvPr>
          <p:cNvSpPr>
            <a:spLocks xmlns:a="http://schemas.openxmlformats.org/drawingml/2006/main" noGrp="1"/>
          </p:cNvSpPr>
          <p:nvPr/>
        </p:nvSpPr>
        <p:spPr>
          <a:xfrm xmlns:a="http://schemas.openxmlformats.org/drawingml/2006/main">
            <a:off x="685800" y="2743200"/>
            <a:ext cx="2971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0B0D10"/>
                </a:solidFill>
                <a:latin typeface="Helvetica Neue"/>
                <a:ea typeface="Helvetica Neue"/>
                <a:cs typeface="Helvetica Neue"/>
              </a:defRPr>
            </a:pPr>
            <a:r>
              <a:rPr sz="1725" b="0">
                <a:solidFill>
                  <a:srgbClr val="0B0D10"/>
                </a:solidFill>
                <a:latin typeface="Helvetica Neue"/>
                <a:ea typeface="Helvetica Neue"/>
                <a:cs typeface="Helvetica Neue"/>
              </a:rPr>
              <a:t>Decompose seasonality + trend, then model residuals</a:t>
            </a:r>
          </a:p>
        </p:txBody>
      </p:sp>
      <p:sp>
        <p:nvSpPr>
          <p:cNvPr id="8" name="">
            <a:extLst xmlns:a="http://schemas.openxmlformats.org/drawingml/2006/main">
              <a:ext uri="{FF2B5EF4-FFF2-40B4-BE49-F238E27FC236}">
                <a16:creationId xmlns:a16="http://schemas.microsoft.com/office/drawing/2014/main" id="{2A9C5C56-F7AE-421E-815E-20BF05E43B35}"/>
              </a:ext>
            </a:extLst>
          </p:cNvPr>
          <p:cNvSpPr>
            <a:spLocks xmlns:a="http://schemas.openxmlformats.org/drawingml/2006/main" noGrp="1"/>
          </p:cNvSpPr>
          <p:nvPr/>
        </p:nvSpPr>
        <p:spPr>
          <a:xfrm xmlns:a="http://schemas.openxmlformats.org/drawingml/2006/main">
            <a:off x="685800" y="4410075"/>
            <a:ext cx="2971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Transparent and fast</a:t>
            </a:r>
          </a:p>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Risk: trend extrapolation</a:t>
            </a:r>
          </a:p>
        </p:txBody>
      </p:sp>
      <p:sp>
        <p:nvSpPr>
          <p:cNvPr id="9" name="">
            <a:extLst xmlns:a="http://schemas.openxmlformats.org/drawingml/2006/main">
              <a:ext uri="{FF2B5EF4-FFF2-40B4-BE49-F238E27FC236}">
                <a16:creationId xmlns:a16="http://schemas.microsoft.com/office/drawing/2014/main" id="{2506FD9E-FC2E-46DA-B4F4-8E53B9F9F2AD}"/>
              </a:ext>
            </a:extLst>
          </p:cNvPr>
          <p:cNvSpPr>
            <a:spLocks xmlns:a="http://schemas.openxmlformats.org/drawingml/2006/main" noGrp="1"/>
          </p:cNvSpPr>
          <p:nvPr/>
        </p:nvSpPr>
        <p:spPr>
          <a:xfrm xmlns:a="http://schemas.openxmlformats.org/drawingml/2006/main">
            <a:off x="4343400" y="1666875"/>
            <a:ext cx="3429000" cy="4114800"/>
          </a:xfrm>
          <a:prstGeom xmlns:a="http://schemas.openxmlformats.org/drawingml/2006/main" prst="roundRect">
            <a:avLst>
              <a:gd name="adj" fmla="val 2778"/>
            </a:avLst>
          </a:prstGeom>
          <a:solidFill xmlns:a="http://schemas.openxmlformats.org/drawingml/2006/main">
            <a:srgbClr val="F6F6F6"/>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38DCDF13-2FB8-4F23-9D17-740C28D1507B}"/>
              </a:ext>
            </a:extLst>
          </p:cNvPr>
          <p:cNvSpPr>
            <a:spLocks xmlns:a="http://schemas.openxmlformats.org/drawingml/2006/main" noGrp="1"/>
          </p:cNvSpPr>
          <p:nvPr/>
        </p:nvSpPr>
        <p:spPr>
          <a:xfrm xmlns:a="http://schemas.openxmlformats.org/drawingml/2006/main">
            <a:off x="4343400" y="1666875"/>
            <a:ext cx="3429000" cy="114300"/>
          </a:xfrm>
          <a:prstGeom xmlns:a="http://schemas.openxmlformats.org/drawingml/2006/main" prst="rect">
            <a:avLst/>
          </a:prstGeom>
          <a:solidFill xmlns:a="http://schemas.openxmlformats.org/drawingml/2006/main">
            <a:srgbClr val="E88935"/>
          </a:solidFill>
          <a:ln xmlns:a="http://schemas.openxmlformats.org/drawingml/2006/main" w="9525">
            <a:solidFill>
              <a:srgbClr val="E88935"/>
            </a:solidFill>
            <a:prstDash val="solid"/>
          </a:ln>
        </p:spPr>
      </p:sp>
      <p:sp>
        <p:nvSpPr>
          <p:cNvPr id="11" name="">
            <a:extLst xmlns:a="http://schemas.openxmlformats.org/drawingml/2006/main">
              <a:ext uri="{FF2B5EF4-FFF2-40B4-BE49-F238E27FC236}">
                <a16:creationId xmlns:a16="http://schemas.microsoft.com/office/drawing/2014/main" id="{11EB11AE-AF1F-4F4A-A6EC-94A7ECCE4646}"/>
              </a:ext>
            </a:extLst>
          </p:cNvPr>
          <p:cNvSpPr>
            <a:spLocks xmlns:a="http://schemas.openxmlformats.org/drawingml/2006/main" noGrp="1"/>
          </p:cNvSpPr>
          <p:nvPr/>
        </p:nvSpPr>
        <p:spPr>
          <a:xfrm xmlns:a="http://schemas.openxmlformats.org/drawingml/2006/main">
            <a:off x="4572000" y="2038350"/>
            <a:ext cx="297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E88935"/>
                </a:solidFill>
                <a:latin typeface="Helvetica Neue"/>
                <a:ea typeface="Helvetica Neue"/>
                <a:cs typeface="Helvetica Neue"/>
              </a:defRPr>
            </a:pPr>
            <a:r>
              <a:rPr sz="2550" b="1">
                <a:solidFill>
                  <a:srgbClr val="E88935"/>
                </a:solidFill>
                <a:latin typeface="Helvetica Neue"/>
                <a:ea typeface="Helvetica Neue"/>
                <a:cs typeface="Helvetica Neue"/>
              </a:rPr>
              <a:t>RNN · LSTM</a:t>
            </a:r>
          </a:p>
        </p:txBody>
      </p:sp>
      <p:sp>
        <p:nvSpPr>
          <p:cNvPr id="12" name="">
            <a:extLst xmlns:a="http://schemas.openxmlformats.org/drawingml/2006/main">
              <a:ext uri="{FF2B5EF4-FFF2-40B4-BE49-F238E27FC236}">
                <a16:creationId xmlns:a16="http://schemas.microsoft.com/office/drawing/2014/main" id="{A53D426F-7B93-47EA-8582-726B876F5F58}"/>
              </a:ext>
            </a:extLst>
          </p:cNvPr>
          <p:cNvSpPr>
            <a:spLocks xmlns:a="http://schemas.openxmlformats.org/drawingml/2006/main" noGrp="1"/>
          </p:cNvSpPr>
          <p:nvPr/>
        </p:nvSpPr>
        <p:spPr>
          <a:xfrm xmlns:a="http://schemas.openxmlformats.org/drawingml/2006/main">
            <a:off x="4572000" y="2743200"/>
            <a:ext cx="2971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0B0D10"/>
                </a:solidFill>
                <a:latin typeface="Helvetica Neue"/>
                <a:ea typeface="Helvetica Neue"/>
                <a:cs typeface="Helvetica Neue"/>
              </a:defRPr>
            </a:pPr>
            <a:r>
              <a:rPr sz="1725" b="0">
                <a:solidFill>
                  <a:srgbClr val="0B0D10"/>
                </a:solidFill>
                <a:latin typeface="Helvetica Neue"/>
                <a:ea typeface="Helvetica Neue"/>
                <a:cs typeface="Helvetica Neue"/>
              </a:rPr>
              <a:t>30-day look-back; predict one day and feed it back</a:t>
            </a:r>
          </a:p>
        </p:txBody>
      </p:sp>
      <p:sp>
        <p:nvSpPr>
          <p:cNvPr id="13" name="">
            <a:extLst xmlns:a="http://schemas.openxmlformats.org/drawingml/2006/main">
              <a:ext uri="{FF2B5EF4-FFF2-40B4-BE49-F238E27FC236}">
                <a16:creationId xmlns:a16="http://schemas.microsoft.com/office/drawing/2014/main" id="{F2A7F975-97E3-4F69-995F-823E50AEF2CE}"/>
              </a:ext>
            </a:extLst>
          </p:cNvPr>
          <p:cNvSpPr>
            <a:spLocks xmlns:a="http://schemas.openxmlformats.org/drawingml/2006/main" noGrp="1"/>
          </p:cNvSpPr>
          <p:nvPr/>
        </p:nvSpPr>
        <p:spPr>
          <a:xfrm xmlns:a="http://schemas.openxmlformats.org/drawingml/2006/main">
            <a:off x="4572000" y="4410075"/>
            <a:ext cx="2971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Nonlinear memory</a:t>
            </a:r>
          </a:p>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Risk: recursive drift</a:t>
            </a:r>
          </a:p>
        </p:txBody>
      </p:sp>
      <p:sp>
        <p:nvSpPr>
          <p:cNvPr id="14" name="">
            <a:extLst xmlns:a="http://schemas.openxmlformats.org/drawingml/2006/main">
              <a:ext uri="{FF2B5EF4-FFF2-40B4-BE49-F238E27FC236}">
                <a16:creationId xmlns:a16="http://schemas.microsoft.com/office/drawing/2014/main" id="{E84B0BBD-81AF-421A-8D93-32ABDE727707}"/>
              </a:ext>
            </a:extLst>
          </p:cNvPr>
          <p:cNvSpPr>
            <a:spLocks xmlns:a="http://schemas.openxmlformats.org/drawingml/2006/main" noGrp="1"/>
          </p:cNvSpPr>
          <p:nvPr/>
        </p:nvSpPr>
        <p:spPr>
          <a:xfrm xmlns:a="http://schemas.openxmlformats.org/drawingml/2006/main">
            <a:off x="8229600" y="1666875"/>
            <a:ext cx="3429000" cy="4114800"/>
          </a:xfrm>
          <a:prstGeom xmlns:a="http://schemas.openxmlformats.org/drawingml/2006/main" prst="roundRect">
            <a:avLst>
              <a:gd name="adj" fmla="val 2778"/>
            </a:avLst>
          </a:prstGeom>
          <a:solidFill xmlns:a="http://schemas.openxmlformats.org/drawingml/2006/main">
            <a:srgbClr val="F6F6F6"/>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96A72E9-0F05-4B40-85D8-974041DD1CD2}"/>
              </a:ext>
            </a:extLst>
          </p:cNvPr>
          <p:cNvSpPr>
            <a:spLocks xmlns:a="http://schemas.openxmlformats.org/drawingml/2006/main" noGrp="1"/>
          </p:cNvSpPr>
          <p:nvPr/>
        </p:nvSpPr>
        <p:spPr>
          <a:xfrm xmlns:a="http://schemas.openxmlformats.org/drawingml/2006/main">
            <a:off x="8229600" y="1666875"/>
            <a:ext cx="3429000" cy="114300"/>
          </a:xfrm>
          <a:prstGeom xmlns:a="http://schemas.openxmlformats.org/drawingml/2006/main" prst="rect">
            <a:avLst/>
          </a:prstGeom>
          <a:solidFill xmlns:a="http://schemas.openxmlformats.org/drawingml/2006/main">
            <a:srgbClr val="7A4CC2"/>
          </a:solidFill>
          <a:ln xmlns:a="http://schemas.openxmlformats.org/drawingml/2006/main" w="9525">
            <a:solidFill>
              <a:srgbClr val="7A4CC2"/>
            </a:solidFill>
            <a:prstDash val="solid"/>
          </a:ln>
        </p:spPr>
      </p:sp>
      <p:sp>
        <p:nvSpPr>
          <p:cNvPr id="16" name="">
            <a:extLst xmlns:a="http://schemas.openxmlformats.org/drawingml/2006/main">
              <a:ext uri="{FF2B5EF4-FFF2-40B4-BE49-F238E27FC236}">
                <a16:creationId xmlns:a16="http://schemas.microsoft.com/office/drawing/2014/main" id="{A2D1FAF1-5A7C-4924-A715-968C7ADBFD09}"/>
              </a:ext>
            </a:extLst>
          </p:cNvPr>
          <p:cNvSpPr>
            <a:spLocks xmlns:a="http://schemas.openxmlformats.org/drawingml/2006/main" noGrp="1"/>
          </p:cNvSpPr>
          <p:nvPr/>
        </p:nvSpPr>
        <p:spPr>
          <a:xfrm xmlns:a="http://schemas.openxmlformats.org/drawingml/2006/main">
            <a:off x="8458200" y="2038350"/>
            <a:ext cx="297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7A4CC2"/>
                </a:solidFill>
                <a:latin typeface="Helvetica Neue"/>
                <a:ea typeface="Helvetica Neue"/>
                <a:cs typeface="Helvetica Neue"/>
              </a:defRPr>
            </a:pPr>
            <a:r>
              <a:rPr sz="2550" b="1">
                <a:solidFill>
                  <a:srgbClr val="7A4CC2"/>
                </a:solidFill>
                <a:latin typeface="Helvetica Neue"/>
                <a:ea typeface="Helvetica Neue"/>
                <a:cs typeface="Helvetica Neue"/>
              </a:rPr>
              <a:t>TFT</a:t>
            </a:r>
          </a:p>
        </p:txBody>
      </p:sp>
      <p:sp>
        <p:nvSpPr>
          <p:cNvPr id="17" name="">
            <a:extLst xmlns:a="http://schemas.openxmlformats.org/drawingml/2006/main">
              <a:ext uri="{FF2B5EF4-FFF2-40B4-BE49-F238E27FC236}">
                <a16:creationId xmlns:a16="http://schemas.microsoft.com/office/drawing/2014/main" id="{DF261A35-2583-45F2-AF5F-6226ACD7A7AA}"/>
              </a:ext>
            </a:extLst>
          </p:cNvPr>
          <p:cNvSpPr>
            <a:spLocks xmlns:a="http://schemas.openxmlformats.org/drawingml/2006/main" noGrp="1"/>
          </p:cNvSpPr>
          <p:nvPr/>
        </p:nvSpPr>
        <p:spPr>
          <a:xfrm xmlns:a="http://schemas.openxmlformats.org/drawingml/2006/main">
            <a:off x="8458200" y="2743200"/>
            <a:ext cx="2971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0B0D10"/>
                </a:solidFill>
                <a:latin typeface="Helvetica Neue"/>
                <a:ea typeface="Helvetica Neue"/>
                <a:cs typeface="Helvetica Neue"/>
              </a:defRPr>
            </a:pPr>
            <a:r>
              <a:rPr sz="1725" b="0">
                <a:solidFill>
                  <a:srgbClr val="0B0D10"/>
                </a:solidFill>
                <a:latin typeface="Helvetica Neue"/>
                <a:ea typeface="Helvetica Neue"/>
                <a:cs typeface="Helvetica Neue"/>
              </a:rPr>
              <a:t>90-day encoder + calendar; output 502 days directly</a:t>
            </a:r>
          </a:p>
        </p:txBody>
      </p:sp>
      <p:sp>
        <p:nvSpPr>
          <p:cNvPr id="18" name="">
            <a:extLst xmlns:a="http://schemas.openxmlformats.org/drawingml/2006/main">
              <a:ext uri="{FF2B5EF4-FFF2-40B4-BE49-F238E27FC236}">
                <a16:creationId xmlns:a16="http://schemas.microsoft.com/office/drawing/2014/main" id="{3AB9DDBE-DA49-4A8B-9161-5F06EA3F36E4}"/>
              </a:ext>
            </a:extLst>
          </p:cNvPr>
          <p:cNvSpPr>
            <a:spLocks xmlns:a="http://schemas.openxmlformats.org/drawingml/2006/main" noGrp="1"/>
          </p:cNvSpPr>
          <p:nvPr/>
        </p:nvSpPr>
        <p:spPr>
          <a:xfrm xmlns:a="http://schemas.openxmlformats.org/drawingml/2006/main">
            <a:off x="8458200" y="4410075"/>
            <a:ext cx="2971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Multi-horizon + interpretable</a:t>
            </a:r>
          </a:p>
          <a:p xmlns:a="http://schemas.openxmlformats.org/drawingml/2006/main">
            <a:pPr algn="l">
              <a:defRPr sz="1575" b="0">
                <a:solidFill>
                  <a:srgbClr val="5E6673"/>
                </a:solidFill>
                <a:latin typeface="Helvetica Neue"/>
                <a:ea typeface="Helvetica Neue"/>
                <a:cs typeface="Helvetica Neue"/>
              </a:defRPr>
            </a:pPr>
            <a:r>
              <a:rPr sz="1575" b="0">
                <a:solidFill>
                  <a:srgbClr val="5E6673"/>
                </a:solidFill>
                <a:latin typeface="Helvetica Neue"/>
                <a:ea typeface="Helvetica Neue"/>
                <a:cs typeface="Helvetica Neue"/>
              </a:rPr>
              <a:t>Risk: calibration</a:t>
            </a:r>
          </a:p>
        </p:txBody>
      </p:sp>
    </p:spTree>
    <p:extLst>
      <p:ext uri="{BB962C8B-B14F-4D97-AF65-F5344CB8AC3E}">
        <p14:creationId xmlns:p14="http://schemas.microsoft.com/office/powerpoint/2010/main" val="10500970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23B574-A0A8-4752-84CD-1641785D53ED}"/>
              </a:ext>
            </a:extLst>
          </p:cNvPr>
          <p:cNvSpPr>
            <a:spLocks xmlns:a="http://schemas.openxmlformats.org/drawingml/2006/main" noGrp="1"/>
          </p:cNvSpPr>
          <p:nvPr/>
        </p:nvSpPr>
        <p:spPr>
          <a:xfrm xmlns:a="http://schemas.openxmlformats.org/drawingml/2006/main">
            <a:off x="457200" y="28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RESULTS</a:t>
            </a:r>
          </a:p>
        </p:txBody>
      </p:sp>
      <p:sp>
        <p:nvSpPr>
          <p:cNvPr id="2" name="">
            <a:extLst xmlns:a="http://schemas.openxmlformats.org/drawingml/2006/main">
              <a:ext uri="{FF2B5EF4-FFF2-40B4-BE49-F238E27FC236}">
                <a16:creationId xmlns:a16="http://schemas.microsoft.com/office/drawing/2014/main" id="{DB91BEE9-E475-4AD0-8D16-6908C4BD46E1}"/>
              </a:ext>
            </a:extLst>
          </p:cNvPr>
          <p:cNvSpPr>
            <a:spLocks xmlns:a="http://schemas.openxmlformats.org/drawingml/2006/main" noGrp="1"/>
          </p:cNvSpPr>
          <p:nvPr/>
        </p:nvSpPr>
        <p:spPr>
          <a:xfrm xmlns:a="http://schemas.openxmlformats.org/drawingml/2006/main">
            <a:off x="457200" y="657225"/>
            <a:ext cx="1123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B0D10"/>
                </a:solidFill>
                <a:latin typeface="Helvetica Neue"/>
                <a:ea typeface="Helvetica Neue"/>
                <a:cs typeface="Helvetica Neue"/>
              </a:defRPr>
            </a:pPr>
            <a:r>
              <a:rPr sz="3600" b="1">
                <a:solidFill>
                  <a:srgbClr val="0B0D10"/>
                </a:solidFill>
                <a:latin typeface="Helvetica Neue"/>
                <a:ea typeface="Helvetica Neue"/>
                <a:cs typeface="Helvetica Neue"/>
              </a:rPr>
              <a:t>TFT makes the smallest absolute forecast error</a:t>
            </a:r>
          </a:p>
        </p:txBody>
      </p:sp>
      <p:sp>
        <p:nvSpPr>
          <p:cNvPr id="3" name="">
            <a:extLst xmlns:a="http://schemas.openxmlformats.org/drawingml/2006/main">
              <a:ext uri="{FF2B5EF4-FFF2-40B4-BE49-F238E27FC236}">
                <a16:creationId xmlns:a16="http://schemas.microsoft.com/office/drawing/2014/main" id="{1AA3DB43-17E9-4B2F-86AC-16BF6663F983}"/>
              </a:ext>
            </a:extLst>
          </p:cNvPr>
          <p:cNvSpPr>
            <a:spLocks xmlns:a="http://schemas.openxmlformats.org/drawingml/2006/main" noGrp="1"/>
          </p:cNvSpPr>
          <p:nvPr/>
        </p:nvSpPr>
        <p:spPr>
          <a:xfrm xmlns:a="http://schemas.openxmlformats.org/drawingml/2006/main">
            <a:off x="11315700" y="64008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a:solidFill>
                  <a:srgbClr val="5E6673"/>
                </a:solidFill>
                <a:latin typeface="Helvetica Neue"/>
                <a:ea typeface="Helvetica Neue"/>
                <a:cs typeface="Helvetica Neue"/>
              </a:defRPr>
            </a:pPr>
            <a:r>
              <a:rPr sz="1125" b="0">
                <a:solidFill>
                  <a:srgbClr val="5E6673"/>
                </a:solidFill>
                <a:latin typeface="Helvetica Neue"/>
                <a:ea typeface="Helvetica Neue"/>
                <a:cs typeface="Helvetica Neue"/>
              </a:rPr>
              <a:t>04</a:t>
            </a:r>
          </a:p>
        </p:txBody>
      </p:sp>
      <p:graphicFrame>
        <p:nvGraphicFramePr>
          <p:cNvPr id="15" name="Chart"/>
          <p:cNvGraphicFramePr/>
          <p:nvPr/>
        </p:nvGraphicFramePr>
        <p:xfrm>
          <a:off xmlns:a="http://schemas.openxmlformats.org/drawingml/2006/main" x="457200" y="1619250"/>
          <a:ext xmlns:a="http://schemas.openxmlformats.org/drawingml/2006/main" cx="6667500" cy="4191000"/>
        </p:xfrm>
        <a:graphic xmlns:a="http://schemas.openxmlformats.org/drawingml/2006/main">
          <a:graphicData uri="http://schemas.openxmlformats.org/drawingml/2006/chart">
            <c:chart xmlns:r="http://schemas.openxmlformats.org/officeDocument/2006/relationships" xmlns:c="http://schemas.openxmlformats.org/drawingml/2006/chart" r:id="Rc9e91be9751c40c1"/>
          </a:graphicData>
        </a:graphic>
      </p:graphicFrame>
      <p:sp>
        <p:nvSpPr>
          <p:cNvPr id="5" name="">
            <a:extLst xmlns:a="http://schemas.openxmlformats.org/drawingml/2006/main">
              <a:ext uri="{FF2B5EF4-FFF2-40B4-BE49-F238E27FC236}">
                <a16:creationId xmlns:a16="http://schemas.microsoft.com/office/drawing/2014/main" id="{80C33E52-1DE5-491E-9736-1BEE0777B61C}"/>
              </a:ext>
            </a:extLst>
          </p:cNvPr>
          <p:cNvSpPr>
            <a:spLocks xmlns:a="http://schemas.openxmlformats.org/drawingml/2006/main" noGrp="1"/>
          </p:cNvSpPr>
          <p:nvPr/>
        </p:nvSpPr>
        <p:spPr>
          <a:xfrm xmlns:a="http://schemas.openxmlformats.org/drawingml/2006/main">
            <a:off x="7524750" y="1638300"/>
            <a:ext cx="3829050" cy="1238250"/>
          </a:xfrm>
          <a:prstGeom xmlns:a="http://schemas.openxmlformats.org/drawingml/2006/main" prst="roundRect">
            <a:avLst>
              <a:gd name="adj" fmla="val 7692"/>
            </a:avLst>
          </a:prstGeom>
          <a:solidFill xmlns:a="http://schemas.openxmlformats.org/drawingml/2006/main">
            <a:srgbClr val="F8F4FC"/>
          </a:solidFill>
          <a:ln xmlns:a="http://schemas.openxmlformats.org/drawingml/2006/main" w="9525">
            <a:solidFill>
              <a:srgbClr val="CDB8E8"/>
            </a:solidFill>
            <a:prstDash val="solid"/>
          </a:ln>
        </p:spPr>
      </p:sp>
      <p:sp>
        <p:nvSpPr>
          <p:cNvPr id="6" name="">
            <a:extLst xmlns:a="http://schemas.openxmlformats.org/drawingml/2006/main">
              <a:ext uri="{FF2B5EF4-FFF2-40B4-BE49-F238E27FC236}">
                <a16:creationId xmlns:a16="http://schemas.microsoft.com/office/drawing/2014/main" id="{75DFE23E-B3A0-4879-9D43-AC8F85C3BDAB}"/>
              </a:ext>
            </a:extLst>
          </p:cNvPr>
          <p:cNvSpPr>
            <a:spLocks xmlns:a="http://schemas.openxmlformats.org/drawingml/2006/main" noGrp="1"/>
          </p:cNvSpPr>
          <p:nvPr/>
        </p:nvSpPr>
        <p:spPr>
          <a:xfrm xmlns:a="http://schemas.openxmlformats.org/drawingml/2006/main">
            <a:off x="7810500" y="18573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7A4CC2"/>
                </a:solidFill>
                <a:latin typeface="Helvetica Neue"/>
                <a:ea typeface="Helvetica Neue"/>
                <a:cs typeface="Helvetica Neue"/>
              </a:defRPr>
            </a:pPr>
            <a:r>
              <a:rPr sz="3225" b="1">
                <a:solidFill>
                  <a:srgbClr val="7A4CC2"/>
                </a:solidFill>
                <a:latin typeface="Helvetica Neue"/>
                <a:ea typeface="Helvetica Neue"/>
                <a:cs typeface="Helvetica Neue"/>
              </a:rPr>
              <a:t>39.8%</a:t>
            </a:r>
          </a:p>
        </p:txBody>
      </p:sp>
      <p:sp>
        <p:nvSpPr>
          <p:cNvPr id="7" name="">
            <a:extLst xmlns:a="http://schemas.openxmlformats.org/drawingml/2006/main">
              <a:ext uri="{FF2B5EF4-FFF2-40B4-BE49-F238E27FC236}">
                <a16:creationId xmlns:a16="http://schemas.microsoft.com/office/drawing/2014/main" id="{DB1BF774-DC89-429E-973E-D35848226155}"/>
              </a:ext>
            </a:extLst>
          </p:cNvPr>
          <p:cNvSpPr>
            <a:spLocks xmlns:a="http://schemas.openxmlformats.org/drawingml/2006/main" noGrp="1"/>
          </p:cNvSpPr>
          <p:nvPr/>
        </p:nvSpPr>
        <p:spPr>
          <a:xfrm xmlns:a="http://schemas.openxmlformats.org/drawingml/2006/main">
            <a:off x="7810500" y="24193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0B0D10"/>
                </a:solidFill>
                <a:latin typeface="Helvetica Neue"/>
                <a:ea typeface="Helvetica Neue"/>
                <a:cs typeface="Helvetica Neue"/>
              </a:defRPr>
            </a:pPr>
            <a:r>
              <a:rPr sz="1575" b="0">
                <a:solidFill>
                  <a:srgbClr val="0B0D10"/>
                </a:solidFill>
                <a:latin typeface="Helvetica Neue"/>
                <a:ea typeface="Helvetica Neue"/>
                <a:cs typeface="Helvetica Neue"/>
              </a:rPr>
              <a:t>lower RMSE than STL‑ARIMA</a:t>
            </a:r>
          </a:p>
        </p:txBody>
      </p:sp>
      <p:sp>
        <p:nvSpPr>
          <p:cNvPr id="8" name="">
            <a:extLst xmlns:a="http://schemas.openxmlformats.org/drawingml/2006/main">
              <a:ext uri="{FF2B5EF4-FFF2-40B4-BE49-F238E27FC236}">
                <a16:creationId xmlns:a16="http://schemas.microsoft.com/office/drawing/2014/main" id="{53E02569-6D6D-4238-8253-6F3418275805}"/>
              </a:ext>
            </a:extLst>
          </p:cNvPr>
          <p:cNvSpPr>
            <a:spLocks xmlns:a="http://schemas.openxmlformats.org/drawingml/2006/main" noGrp="1"/>
          </p:cNvSpPr>
          <p:nvPr/>
        </p:nvSpPr>
        <p:spPr>
          <a:xfrm xmlns:a="http://schemas.openxmlformats.org/drawingml/2006/main">
            <a:off x="7524750" y="3067050"/>
            <a:ext cx="3829050" cy="1238250"/>
          </a:xfrm>
          <a:prstGeom xmlns:a="http://schemas.openxmlformats.org/drawingml/2006/main" prst="roundRect">
            <a:avLst>
              <a:gd name="adj" fmla="val 7692"/>
            </a:avLst>
          </a:prstGeom>
          <a:solidFill xmlns:a="http://schemas.openxmlformats.org/drawingml/2006/main">
            <a:srgbClr val="F8F4FC"/>
          </a:solidFill>
          <a:ln xmlns:a="http://schemas.openxmlformats.org/drawingml/2006/main" w="9525">
            <a:solidFill>
              <a:srgbClr val="CDB8E8"/>
            </a:solidFill>
            <a:prstDash val="solid"/>
          </a:ln>
        </p:spPr>
      </p:sp>
      <p:sp>
        <p:nvSpPr>
          <p:cNvPr id="9" name="">
            <a:extLst xmlns:a="http://schemas.openxmlformats.org/drawingml/2006/main">
              <a:ext uri="{FF2B5EF4-FFF2-40B4-BE49-F238E27FC236}">
                <a16:creationId xmlns:a16="http://schemas.microsoft.com/office/drawing/2014/main" id="{E77E78A2-2296-4E4F-A747-AAAE6DCCB78C}"/>
              </a:ext>
            </a:extLst>
          </p:cNvPr>
          <p:cNvSpPr>
            <a:spLocks xmlns:a="http://schemas.openxmlformats.org/drawingml/2006/main" noGrp="1"/>
          </p:cNvSpPr>
          <p:nvPr/>
        </p:nvSpPr>
        <p:spPr>
          <a:xfrm xmlns:a="http://schemas.openxmlformats.org/drawingml/2006/main">
            <a:off x="7810500" y="328612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7A4CC2"/>
                </a:solidFill>
                <a:latin typeface="Helvetica Neue"/>
                <a:ea typeface="Helvetica Neue"/>
                <a:cs typeface="Helvetica Neue"/>
              </a:defRPr>
            </a:pPr>
            <a:r>
              <a:rPr sz="3225" b="1">
                <a:solidFill>
                  <a:srgbClr val="7A4CC2"/>
                </a:solidFill>
                <a:latin typeface="Helvetica Neue"/>
                <a:ea typeface="Helvetica Neue"/>
                <a:cs typeface="Helvetica Neue"/>
              </a:rPr>
              <a:t>44.7%</a:t>
            </a:r>
          </a:p>
        </p:txBody>
      </p:sp>
      <p:sp>
        <p:nvSpPr>
          <p:cNvPr id="10" name="">
            <a:extLst xmlns:a="http://schemas.openxmlformats.org/drawingml/2006/main">
              <a:ext uri="{FF2B5EF4-FFF2-40B4-BE49-F238E27FC236}">
                <a16:creationId xmlns:a16="http://schemas.microsoft.com/office/drawing/2014/main" id="{7591AE46-33F9-4548-BB6A-E18E1B1B02A2}"/>
              </a:ext>
            </a:extLst>
          </p:cNvPr>
          <p:cNvSpPr>
            <a:spLocks xmlns:a="http://schemas.openxmlformats.org/drawingml/2006/main" noGrp="1"/>
          </p:cNvSpPr>
          <p:nvPr/>
        </p:nvSpPr>
        <p:spPr>
          <a:xfrm xmlns:a="http://schemas.openxmlformats.org/drawingml/2006/main">
            <a:off x="7810500" y="38481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0B0D10"/>
                </a:solidFill>
                <a:latin typeface="Helvetica Neue"/>
                <a:ea typeface="Helvetica Neue"/>
                <a:cs typeface="Helvetica Neue"/>
              </a:defRPr>
            </a:pPr>
            <a:r>
              <a:rPr sz="1575" b="0">
                <a:solidFill>
                  <a:srgbClr val="0B0D10"/>
                </a:solidFill>
                <a:latin typeface="Helvetica Neue"/>
                <a:ea typeface="Helvetica Neue"/>
                <a:cs typeface="Helvetica Neue"/>
              </a:rPr>
              <a:t>lower RMSE than the RNN</a:t>
            </a:r>
          </a:p>
        </p:txBody>
      </p:sp>
      <p:sp>
        <p:nvSpPr>
          <p:cNvPr id="11" name="">
            <a:extLst xmlns:a="http://schemas.openxmlformats.org/drawingml/2006/main">
              <a:ext uri="{FF2B5EF4-FFF2-40B4-BE49-F238E27FC236}">
                <a16:creationId xmlns:a16="http://schemas.microsoft.com/office/drawing/2014/main" id="{5BF9BFDF-DD15-401F-A93C-5E4CF16C7F4D}"/>
              </a:ext>
            </a:extLst>
          </p:cNvPr>
          <p:cNvSpPr>
            <a:spLocks xmlns:a="http://schemas.openxmlformats.org/drawingml/2006/main" noGrp="1"/>
          </p:cNvSpPr>
          <p:nvPr/>
        </p:nvSpPr>
        <p:spPr>
          <a:xfrm xmlns:a="http://schemas.openxmlformats.org/drawingml/2006/main">
            <a:off x="7524750" y="4686300"/>
            <a:ext cx="382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B0D10"/>
                </a:solidFill>
                <a:latin typeface="Helvetica Neue"/>
                <a:ea typeface="Helvetica Neue"/>
                <a:cs typeface="Helvetica Neue"/>
              </a:defRPr>
            </a:pPr>
            <a:r>
              <a:rPr sz="1800" b="1">
                <a:solidFill>
                  <a:srgbClr val="0B0D10"/>
                </a:solidFill>
                <a:latin typeface="Helvetica Neue"/>
                <a:ea typeface="Helvetica Neue"/>
                <a:cs typeface="Helvetica Neue"/>
              </a:rPr>
              <a:t>Also 7.3% better than the random-walk baseline.</a:t>
            </a:r>
          </a:p>
        </p:txBody>
      </p:sp>
    </p:spTree>
    <p:extLst>
      <p:ext uri="{BB962C8B-B14F-4D97-AF65-F5344CB8AC3E}">
        <p14:creationId xmlns:p14="http://schemas.microsoft.com/office/powerpoint/2010/main" val="21438474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99C45B-4903-4CBD-81BA-A1448B896041}"/>
              </a:ext>
            </a:extLst>
          </p:cNvPr>
          <p:cNvSpPr>
            <a:spLocks xmlns:a="http://schemas.openxmlformats.org/drawingml/2006/main" noGrp="1"/>
          </p:cNvSpPr>
          <p:nvPr/>
        </p:nvSpPr>
        <p:spPr>
          <a:xfrm xmlns:a="http://schemas.openxmlformats.org/drawingml/2006/main">
            <a:off x="457200" y="28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WHY TFT WON</a:t>
            </a:r>
          </a:p>
        </p:txBody>
      </p:sp>
      <p:sp>
        <p:nvSpPr>
          <p:cNvPr id="2" name="">
            <a:extLst xmlns:a="http://schemas.openxmlformats.org/drawingml/2006/main">
              <a:ext uri="{FF2B5EF4-FFF2-40B4-BE49-F238E27FC236}">
                <a16:creationId xmlns:a16="http://schemas.microsoft.com/office/drawing/2014/main" id="{9BBC9CB4-8B54-4455-A794-4FD42FEB0B06}"/>
              </a:ext>
            </a:extLst>
          </p:cNvPr>
          <p:cNvSpPr>
            <a:spLocks xmlns:a="http://schemas.openxmlformats.org/drawingml/2006/main" noGrp="1"/>
          </p:cNvSpPr>
          <p:nvPr/>
        </p:nvSpPr>
        <p:spPr>
          <a:xfrm xmlns:a="http://schemas.openxmlformats.org/drawingml/2006/main">
            <a:off x="457200" y="657225"/>
            <a:ext cx="1123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B0D10"/>
                </a:solidFill>
                <a:latin typeface="Helvetica Neue"/>
                <a:ea typeface="Helvetica Neue"/>
                <a:cs typeface="Helvetica Neue"/>
              </a:defRPr>
            </a:pPr>
            <a:r>
              <a:rPr sz="3600" b="1">
                <a:solidFill>
                  <a:srgbClr val="0B0D10"/>
                </a:solidFill>
                <a:latin typeface="Helvetica Neue"/>
                <a:ea typeface="Helvetica Neue"/>
                <a:cs typeface="Helvetica Neue"/>
              </a:rPr>
              <a:t>The forecast path explains the ranking</a:t>
            </a:r>
          </a:p>
        </p:txBody>
      </p:sp>
      <p:sp>
        <p:nvSpPr>
          <p:cNvPr id="3" name="">
            <a:extLst xmlns:a="http://schemas.openxmlformats.org/drawingml/2006/main">
              <a:ext uri="{FF2B5EF4-FFF2-40B4-BE49-F238E27FC236}">
                <a16:creationId xmlns:a16="http://schemas.microsoft.com/office/drawing/2014/main" id="{6E5CBE36-310F-41B1-8153-F947DF5D1A7C}"/>
              </a:ext>
            </a:extLst>
          </p:cNvPr>
          <p:cNvSpPr>
            <a:spLocks xmlns:a="http://schemas.openxmlformats.org/drawingml/2006/main" noGrp="1"/>
          </p:cNvSpPr>
          <p:nvPr/>
        </p:nvSpPr>
        <p:spPr>
          <a:xfrm xmlns:a="http://schemas.openxmlformats.org/drawingml/2006/main">
            <a:off x="11315700" y="64008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a:solidFill>
                  <a:srgbClr val="5E6673"/>
                </a:solidFill>
                <a:latin typeface="Helvetica Neue"/>
                <a:ea typeface="Helvetica Neue"/>
                <a:cs typeface="Helvetica Neue"/>
              </a:defRPr>
            </a:pPr>
            <a:r>
              <a:rPr sz="1125" b="0">
                <a:solidFill>
                  <a:srgbClr val="5E6673"/>
                </a:solidFill>
                <a:latin typeface="Helvetica Neue"/>
                <a:ea typeface="Helvetica Neue"/>
                <a:cs typeface="Helvetica Neue"/>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3a03f6a66b049db"/>
          <a:stretch xmlns:a="http://schemas.openxmlformats.org/drawingml/2006/main"/>
        </p:blipFill>
        <p:spPr>
          <a:xfrm xmlns:a="http://schemas.openxmlformats.org/drawingml/2006/main">
            <a:off x="1809750" y="1485900"/>
            <a:ext cx="857250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DE051E-14A1-469A-94A7-D279F7CEAC24}"/>
              </a:ext>
            </a:extLst>
          </p:cNvPr>
          <p:cNvSpPr>
            <a:spLocks xmlns:a="http://schemas.openxmlformats.org/drawingml/2006/main" noGrp="1"/>
          </p:cNvSpPr>
          <p:nvPr/>
        </p:nvSpPr>
        <p:spPr>
          <a:xfrm xmlns:a="http://schemas.openxmlformats.org/drawingml/2006/main">
            <a:off x="571500" y="5715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2E9D64"/>
                </a:solidFill>
                <a:latin typeface="Helvetica Neue"/>
                <a:ea typeface="Helvetica Neue"/>
                <a:cs typeface="Helvetica Neue"/>
              </a:defRPr>
            </a:pPr>
            <a:r>
              <a:rPr sz="1875" b="1">
                <a:solidFill>
                  <a:srgbClr val="2E9D64"/>
                </a:solidFill>
                <a:latin typeface="Helvetica Neue"/>
                <a:ea typeface="Helvetica Neue"/>
                <a:cs typeface="Helvetica Neue"/>
              </a:rPr>
              <a:t>STL‑ARIMA overshoots</a:t>
            </a:r>
          </a:p>
        </p:txBody>
      </p:sp>
      <p:sp>
        <p:nvSpPr>
          <p:cNvPr id="6" name="">
            <a:extLst xmlns:a="http://schemas.openxmlformats.org/drawingml/2006/main">
              <a:ext uri="{FF2B5EF4-FFF2-40B4-BE49-F238E27FC236}">
                <a16:creationId xmlns:a16="http://schemas.microsoft.com/office/drawing/2014/main" id="{2122653B-045E-469C-A4F5-B8416E06F684}"/>
              </a:ext>
            </a:extLst>
          </p:cNvPr>
          <p:cNvSpPr>
            <a:spLocks xmlns:a="http://schemas.openxmlformats.org/drawingml/2006/main" noGrp="1"/>
          </p:cNvSpPr>
          <p:nvPr/>
        </p:nvSpPr>
        <p:spPr>
          <a:xfrm xmlns:a="http://schemas.openxmlformats.org/drawingml/2006/main">
            <a:off x="4438650" y="5715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E88935"/>
                </a:solidFill>
                <a:latin typeface="Helvetica Neue"/>
                <a:ea typeface="Helvetica Neue"/>
                <a:cs typeface="Helvetica Neue"/>
              </a:defRPr>
            </a:pPr>
            <a:r>
              <a:rPr sz="1875" b="1">
                <a:solidFill>
                  <a:srgbClr val="E88935"/>
                </a:solidFill>
                <a:latin typeface="Helvetica Neue"/>
                <a:ea typeface="Helvetica Neue"/>
                <a:cs typeface="Helvetica Neue"/>
              </a:rPr>
              <a:t>RNN compounds error</a:t>
            </a:r>
          </a:p>
        </p:txBody>
      </p:sp>
      <p:sp>
        <p:nvSpPr>
          <p:cNvPr id="7" name="">
            <a:extLst xmlns:a="http://schemas.openxmlformats.org/drawingml/2006/main">
              <a:ext uri="{FF2B5EF4-FFF2-40B4-BE49-F238E27FC236}">
                <a16:creationId xmlns:a16="http://schemas.microsoft.com/office/drawing/2014/main" id="{860096AB-5291-42B2-AB21-609F6B6D4343}"/>
              </a:ext>
            </a:extLst>
          </p:cNvPr>
          <p:cNvSpPr>
            <a:spLocks xmlns:a="http://schemas.openxmlformats.org/drawingml/2006/main" noGrp="1"/>
          </p:cNvSpPr>
          <p:nvPr/>
        </p:nvSpPr>
        <p:spPr>
          <a:xfrm xmlns:a="http://schemas.openxmlformats.org/drawingml/2006/main">
            <a:off x="8305800" y="5715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7A4CC2"/>
                </a:solidFill>
                <a:latin typeface="Helvetica Neue"/>
                <a:ea typeface="Helvetica Neue"/>
                <a:cs typeface="Helvetica Neue"/>
              </a:defRPr>
            </a:pPr>
            <a:r>
              <a:rPr sz="1875" b="1">
                <a:solidFill>
                  <a:srgbClr val="7A4CC2"/>
                </a:solidFill>
                <a:latin typeface="Helvetica Neue"/>
                <a:ea typeface="Helvetica Neue"/>
                <a:cs typeface="Helvetica Neue"/>
              </a:rPr>
              <a:t>TFT emits one direct path</a:t>
            </a:r>
          </a:p>
        </p:txBody>
      </p:sp>
    </p:spTree>
    <p:extLst>
      <p:ext uri="{BB962C8B-B14F-4D97-AF65-F5344CB8AC3E}">
        <p14:creationId xmlns:p14="http://schemas.microsoft.com/office/powerpoint/2010/main" val="11686310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FF4EEE-52D5-415D-9245-B55BAB7761CF}"/>
              </a:ext>
            </a:extLst>
          </p:cNvPr>
          <p:cNvSpPr>
            <a:spLocks xmlns:a="http://schemas.openxmlformats.org/drawingml/2006/main" noGrp="1"/>
          </p:cNvSpPr>
          <p:nvPr/>
        </p:nvSpPr>
        <p:spPr>
          <a:xfrm xmlns:a="http://schemas.openxmlformats.org/drawingml/2006/main">
            <a:off x="457200" y="28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INTERPRETATION AND CAVEATS</a:t>
            </a:r>
          </a:p>
        </p:txBody>
      </p:sp>
      <p:sp>
        <p:nvSpPr>
          <p:cNvPr id="2" name="">
            <a:extLst xmlns:a="http://schemas.openxmlformats.org/drawingml/2006/main">
              <a:ext uri="{FF2B5EF4-FFF2-40B4-BE49-F238E27FC236}">
                <a16:creationId xmlns:a16="http://schemas.microsoft.com/office/drawing/2014/main" id="{2B5A1D8B-8E72-41F6-9786-1F2971B75847}"/>
              </a:ext>
            </a:extLst>
          </p:cNvPr>
          <p:cNvSpPr>
            <a:spLocks xmlns:a="http://schemas.openxmlformats.org/drawingml/2006/main" noGrp="1"/>
          </p:cNvSpPr>
          <p:nvPr/>
        </p:nvSpPr>
        <p:spPr>
          <a:xfrm xmlns:a="http://schemas.openxmlformats.org/drawingml/2006/main">
            <a:off x="457200" y="657225"/>
            <a:ext cx="1123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B0D10"/>
                </a:solidFill>
                <a:latin typeface="Helvetica Neue"/>
                <a:ea typeface="Helvetica Neue"/>
                <a:cs typeface="Helvetica Neue"/>
              </a:defRPr>
            </a:pPr>
            <a:r>
              <a:rPr sz="3600" b="1">
                <a:solidFill>
                  <a:srgbClr val="0B0D10"/>
                </a:solidFill>
                <a:latin typeface="Helvetica Neue"/>
                <a:ea typeface="Helvetica Neue"/>
                <a:cs typeface="Helvetica Neue"/>
              </a:rPr>
              <a:t>Sensible signal, unreliable uncertainty</a:t>
            </a:r>
          </a:p>
        </p:txBody>
      </p:sp>
      <p:sp>
        <p:nvSpPr>
          <p:cNvPr id="3" name="">
            <a:extLst xmlns:a="http://schemas.openxmlformats.org/drawingml/2006/main">
              <a:ext uri="{FF2B5EF4-FFF2-40B4-BE49-F238E27FC236}">
                <a16:creationId xmlns:a16="http://schemas.microsoft.com/office/drawing/2014/main" id="{2E1F702D-A606-4F89-A91D-8F226AA90296}"/>
              </a:ext>
            </a:extLst>
          </p:cNvPr>
          <p:cNvSpPr>
            <a:spLocks xmlns:a="http://schemas.openxmlformats.org/drawingml/2006/main" noGrp="1"/>
          </p:cNvSpPr>
          <p:nvPr/>
        </p:nvSpPr>
        <p:spPr>
          <a:xfrm xmlns:a="http://schemas.openxmlformats.org/drawingml/2006/main">
            <a:off x="11315700" y="64008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a:solidFill>
                  <a:srgbClr val="5E6673"/>
                </a:solidFill>
                <a:latin typeface="Helvetica Neue"/>
                <a:ea typeface="Helvetica Neue"/>
                <a:cs typeface="Helvetica Neue"/>
              </a:defRPr>
            </a:pPr>
            <a:r>
              <a:rPr sz="1125" b="0">
                <a:solidFill>
                  <a:srgbClr val="5E6673"/>
                </a:solidFill>
                <a:latin typeface="Helvetica Neue"/>
                <a:ea typeface="Helvetica Neue"/>
                <a:cs typeface="Helvetica Neue"/>
              </a:rPr>
              <a:t>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930aa9c61314432"/>
          <a:stretch xmlns:a="http://schemas.openxmlformats.org/drawingml/2006/main"/>
        </p:blipFill>
        <p:spPr>
          <a:xfrm xmlns:a="http://schemas.openxmlformats.org/drawingml/2006/main">
            <a:off x="457200" y="2033588"/>
            <a:ext cx="6858000" cy="2143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572BD1-5672-4216-86A1-063B4E74D331}"/>
              </a:ext>
            </a:extLst>
          </p:cNvPr>
          <p:cNvSpPr>
            <a:spLocks xmlns:a="http://schemas.openxmlformats.org/drawingml/2006/main" noGrp="1"/>
          </p:cNvSpPr>
          <p:nvPr/>
        </p:nvSpPr>
        <p:spPr>
          <a:xfrm xmlns:a="http://schemas.openxmlformats.org/drawingml/2006/main">
            <a:off x="571500" y="49149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7A4CC2"/>
                </a:solidFill>
                <a:latin typeface="Helvetica Neue"/>
                <a:ea typeface="Helvetica Neue"/>
                <a:cs typeface="Helvetica Neue"/>
              </a:defRPr>
            </a:pPr>
            <a:r>
              <a:rPr sz="3000" b="1">
                <a:solidFill>
                  <a:srgbClr val="7A4CC2"/>
                </a:solidFill>
                <a:latin typeface="Helvetica Neue"/>
                <a:ea typeface="Helvetica Neue"/>
                <a:cs typeface="Helvetica Neue"/>
              </a:rPr>
              <a:t>34.4%</a:t>
            </a:r>
          </a:p>
        </p:txBody>
      </p:sp>
      <p:sp>
        <p:nvSpPr>
          <p:cNvPr id="6" name="">
            <a:extLst xmlns:a="http://schemas.openxmlformats.org/drawingml/2006/main">
              <a:ext uri="{FF2B5EF4-FFF2-40B4-BE49-F238E27FC236}">
                <a16:creationId xmlns:a16="http://schemas.microsoft.com/office/drawing/2014/main" id="{0C9E74B7-F8FF-4E9A-BD8C-E7AEE0960B7A}"/>
              </a:ext>
            </a:extLst>
          </p:cNvPr>
          <p:cNvSpPr>
            <a:spLocks xmlns:a="http://schemas.openxmlformats.org/drawingml/2006/main" noGrp="1"/>
          </p:cNvSpPr>
          <p:nvPr/>
        </p:nvSpPr>
        <p:spPr>
          <a:xfrm xmlns:a="http://schemas.openxmlformats.org/drawingml/2006/main">
            <a:off x="2095500" y="49720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0B0D10"/>
                </a:solidFill>
                <a:latin typeface="Helvetica Neue"/>
                <a:ea typeface="Helvetica Neue"/>
                <a:cs typeface="Helvetica Neue"/>
              </a:defRPr>
            </a:pPr>
            <a:r>
              <a:rPr sz="1650" b="0">
                <a:solidFill>
                  <a:srgbClr val="0B0D10"/>
                </a:solidFill>
                <a:latin typeface="Helvetica Neue"/>
                <a:ea typeface="Helvetica Neue"/>
                <a:cs typeface="Helvetica Neue"/>
              </a:rPr>
              <a:t>weight on recent observed energy</a:t>
            </a:r>
          </a:p>
        </p:txBody>
      </p:sp>
      <p:sp>
        <p:nvSpPr>
          <p:cNvPr id="7" name="">
            <a:extLst xmlns:a="http://schemas.openxmlformats.org/drawingml/2006/main">
              <a:ext uri="{FF2B5EF4-FFF2-40B4-BE49-F238E27FC236}">
                <a16:creationId xmlns:a16="http://schemas.microsoft.com/office/drawing/2014/main" id="{61361B8F-61BA-4B38-AA8C-47E2E145E267}"/>
              </a:ext>
            </a:extLst>
          </p:cNvPr>
          <p:cNvSpPr>
            <a:spLocks xmlns:a="http://schemas.openxmlformats.org/drawingml/2006/main" noGrp="1"/>
          </p:cNvSpPr>
          <p:nvPr/>
        </p:nvSpPr>
        <p:spPr>
          <a:xfrm xmlns:a="http://schemas.openxmlformats.org/drawingml/2006/main">
            <a:off x="571500" y="55245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7A4CC2"/>
                </a:solidFill>
                <a:latin typeface="Helvetica Neue"/>
                <a:ea typeface="Helvetica Neue"/>
                <a:cs typeface="Helvetica Neue"/>
              </a:defRPr>
            </a:pPr>
            <a:r>
              <a:rPr sz="3000" b="1">
                <a:solidFill>
                  <a:srgbClr val="7A4CC2"/>
                </a:solidFill>
                <a:latin typeface="Helvetica Neue"/>
                <a:ea typeface="Helvetica Neue"/>
                <a:cs typeface="Helvetica Neue"/>
              </a:rPr>
              <a:t>62.3%</a:t>
            </a:r>
          </a:p>
        </p:txBody>
      </p:sp>
      <p:sp>
        <p:nvSpPr>
          <p:cNvPr id="8" name="">
            <a:extLst xmlns:a="http://schemas.openxmlformats.org/drawingml/2006/main">
              <a:ext uri="{FF2B5EF4-FFF2-40B4-BE49-F238E27FC236}">
                <a16:creationId xmlns:a16="http://schemas.microsoft.com/office/drawing/2014/main" id="{E9C90C52-0DBD-4BFE-8E25-7D77747B3704}"/>
              </a:ext>
            </a:extLst>
          </p:cNvPr>
          <p:cNvSpPr>
            <a:spLocks xmlns:a="http://schemas.openxmlformats.org/drawingml/2006/main" noGrp="1"/>
          </p:cNvSpPr>
          <p:nvPr/>
        </p:nvSpPr>
        <p:spPr>
          <a:xfrm xmlns:a="http://schemas.openxmlformats.org/drawingml/2006/main">
            <a:off x="2095500" y="55816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0B0D10"/>
                </a:solidFill>
                <a:latin typeface="Helvetica Neue"/>
                <a:ea typeface="Helvetica Neue"/>
                <a:cs typeface="Helvetica Neue"/>
              </a:defRPr>
            </a:pPr>
            <a:r>
              <a:rPr sz="1650" b="0">
                <a:solidFill>
                  <a:srgbClr val="0B0D10"/>
                </a:solidFill>
                <a:latin typeface="Helvetica Neue"/>
                <a:ea typeface="Helvetica Neue"/>
                <a:cs typeface="Helvetica Neue"/>
              </a:rPr>
              <a:t>weight on annual month seasonality</a:t>
            </a:r>
          </a:p>
        </p:txBody>
      </p:sp>
      <p:sp>
        <p:nvSpPr>
          <p:cNvPr id="9" name="">
            <a:extLst xmlns:a="http://schemas.openxmlformats.org/drawingml/2006/main">
              <a:ext uri="{FF2B5EF4-FFF2-40B4-BE49-F238E27FC236}">
                <a16:creationId xmlns:a16="http://schemas.microsoft.com/office/drawing/2014/main" id="{23D73C4E-F4EB-434C-B14C-3E67704F5CC4}"/>
              </a:ext>
            </a:extLst>
          </p:cNvPr>
          <p:cNvSpPr>
            <a:spLocks xmlns:a="http://schemas.openxmlformats.org/drawingml/2006/main" noGrp="1"/>
          </p:cNvSpPr>
          <p:nvPr/>
        </p:nvSpPr>
        <p:spPr>
          <a:xfrm xmlns:a="http://schemas.openxmlformats.org/drawingml/2006/main">
            <a:off x="7734300" y="1666875"/>
            <a:ext cx="3619500" cy="1562100"/>
          </a:xfrm>
          <a:prstGeom xmlns:a="http://schemas.openxmlformats.org/drawingml/2006/main" prst="roundRect">
            <a:avLst>
              <a:gd name="adj" fmla="val 6098"/>
            </a:avLst>
          </a:prstGeom>
          <a:solidFill xmlns:a="http://schemas.openxmlformats.org/drawingml/2006/main">
            <a:srgbClr val="FEF3F3"/>
          </a:solidFill>
          <a:ln xmlns:a="http://schemas.openxmlformats.org/drawingml/2006/main" w="9525">
            <a:solidFill>
              <a:srgbClr val="F0B3B3"/>
            </a:solidFill>
            <a:prstDash val="solid"/>
          </a:ln>
        </p:spPr>
      </p:sp>
      <p:sp>
        <p:nvSpPr>
          <p:cNvPr id="10" name="">
            <a:extLst xmlns:a="http://schemas.openxmlformats.org/drawingml/2006/main">
              <a:ext uri="{FF2B5EF4-FFF2-40B4-BE49-F238E27FC236}">
                <a16:creationId xmlns:a16="http://schemas.microsoft.com/office/drawing/2014/main" id="{BFC4EFEA-3F9A-4EF3-9981-97100B465556}"/>
              </a:ext>
            </a:extLst>
          </p:cNvPr>
          <p:cNvSpPr>
            <a:spLocks xmlns:a="http://schemas.openxmlformats.org/drawingml/2006/main" noGrp="1"/>
          </p:cNvSpPr>
          <p:nvPr/>
        </p:nvSpPr>
        <p:spPr>
          <a:xfrm xmlns:a="http://schemas.openxmlformats.org/drawingml/2006/main">
            <a:off x="8001000" y="1943100"/>
            <a:ext cx="3086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D94C4C"/>
                </a:solidFill>
                <a:latin typeface="Helvetica Neue"/>
                <a:ea typeface="Helvetica Neue"/>
                <a:cs typeface="Helvetica Neue"/>
              </a:defRPr>
            </a:pPr>
            <a:r>
              <a:rPr sz="2700" b="1">
                <a:solidFill>
                  <a:srgbClr val="D94C4C"/>
                </a:solidFill>
                <a:latin typeface="Helvetica Neue"/>
                <a:ea typeface="Helvetica Neue"/>
                <a:cs typeface="Helvetica Neue"/>
              </a:rPr>
              <a:t>50% coverage</a:t>
            </a:r>
          </a:p>
        </p:txBody>
      </p:sp>
      <p:sp>
        <p:nvSpPr>
          <p:cNvPr id="11" name="">
            <a:extLst xmlns:a="http://schemas.openxmlformats.org/drawingml/2006/main">
              <a:ext uri="{FF2B5EF4-FFF2-40B4-BE49-F238E27FC236}">
                <a16:creationId xmlns:a16="http://schemas.microsoft.com/office/drawing/2014/main" id="{9A465E03-2B77-4806-8120-628EF2091B12}"/>
              </a:ext>
            </a:extLst>
          </p:cNvPr>
          <p:cNvSpPr>
            <a:spLocks xmlns:a="http://schemas.openxmlformats.org/drawingml/2006/main" noGrp="1"/>
          </p:cNvSpPr>
          <p:nvPr/>
        </p:nvSpPr>
        <p:spPr>
          <a:xfrm xmlns:a="http://schemas.openxmlformats.org/drawingml/2006/main">
            <a:off x="8001000" y="2514600"/>
            <a:ext cx="308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0B0D10"/>
                </a:solidFill>
                <a:latin typeface="Helvetica Neue"/>
                <a:ea typeface="Helvetica Neue"/>
                <a:cs typeface="Helvetica Neue"/>
              </a:defRPr>
            </a:pPr>
            <a:r>
              <a:rPr sz="1575" b="0">
                <a:solidFill>
                  <a:srgbClr val="0B0D10"/>
                </a:solidFill>
                <a:latin typeface="Helvetica Neue"/>
                <a:ea typeface="Helvetica Neue"/>
                <a:cs typeface="Helvetica Neue"/>
              </a:rPr>
              <a:t>for a nominal 80% interval</a:t>
            </a:r>
          </a:p>
        </p:txBody>
      </p:sp>
      <p:sp>
        <p:nvSpPr>
          <p:cNvPr id="12" name="">
            <a:extLst xmlns:a="http://schemas.openxmlformats.org/drawingml/2006/main">
              <a:ext uri="{FF2B5EF4-FFF2-40B4-BE49-F238E27FC236}">
                <a16:creationId xmlns:a16="http://schemas.microsoft.com/office/drawing/2014/main" id="{FAAFA6FD-DBD6-4144-8316-7C3782A0C7B9}"/>
              </a:ext>
            </a:extLst>
          </p:cNvPr>
          <p:cNvSpPr>
            <a:spLocks xmlns:a="http://schemas.openxmlformats.org/drawingml/2006/main" noGrp="1"/>
          </p:cNvSpPr>
          <p:nvPr/>
        </p:nvSpPr>
        <p:spPr>
          <a:xfrm xmlns:a="http://schemas.openxmlformats.org/drawingml/2006/main">
            <a:off x="7734300" y="3486150"/>
            <a:ext cx="3619500" cy="1562100"/>
          </a:xfrm>
          <a:prstGeom xmlns:a="http://schemas.openxmlformats.org/drawingml/2006/main" prst="roundRect">
            <a:avLst>
              <a:gd name="adj" fmla="val 6098"/>
            </a:avLst>
          </a:prstGeom>
          <a:solidFill xmlns:a="http://schemas.openxmlformats.org/drawingml/2006/main">
            <a:srgbClr val="F6F6F6"/>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F36ED76-F23F-4222-9F0C-93BB8C336197}"/>
              </a:ext>
            </a:extLst>
          </p:cNvPr>
          <p:cNvSpPr>
            <a:spLocks xmlns:a="http://schemas.openxmlformats.org/drawingml/2006/main" noGrp="1"/>
          </p:cNvSpPr>
          <p:nvPr/>
        </p:nvSpPr>
        <p:spPr>
          <a:xfrm xmlns:a="http://schemas.openxmlformats.org/drawingml/2006/main">
            <a:off x="8001000" y="3781425"/>
            <a:ext cx="308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0B0D10"/>
                </a:solidFill>
                <a:latin typeface="Helvetica Neue"/>
                <a:ea typeface="Helvetica Neue"/>
                <a:cs typeface="Helvetica Neue"/>
              </a:defRPr>
            </a:pPr>
            <a:r>
              <a:rPr sz="2325" b="1">
                <a:solidFill>
                  <a:srgbClr val="0B0D10"/>
                </a:solidFill>
                <a:latin typeface="Helvetica Neue"/>
                <a:ea typeface="Helvetica Neue"/>
                <a:cs typeface="Helvetica Neue"/>
              </a:rPr>
              <a:t>One seed · one split</a:t>
            </a:r>
          </a:p>
        </p:txBody>
      </p:sp>
      <p:sp>
        <p:nvSpPr>
          <p:cNvPr id="14" name="">
            <a:extLst xmlns:a="http://schemas.openxmlformats.org/drawingml/2006/main">
              <a:ext uri="{FF2B5EF4-FFF2-40B4-BE49-F238E27FC236}">
                <a16:creationId xmlns:a16="http://schemas.microsoft.com/office/drawing/2014/main" id="{8BBAAB64-0013-4A64-BFCF-4F160B569340}"/>
              </a:ext>
            </a:extLst>
          </p:cNvPr>
          <p:cNvSpPr>
            <a:spLocks xmlns:a="http://schemas.openxmlformats.org/drawingml/2006/main" noGrp="1"/>
          </p:cNvSpPr>
          <p:nvPr/>
        </p:nvSpPr>
        <p:spPr>
          <a:xfrm xmlns:a="http://schemas.openxmlformats.org/drawingml/2006/main">
            <a:off x="8001000" y="4343400"/>
            <a:ext cx="3086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0B0D10"/>
                </a:solidFill>
                <a:latin typeface="Helvetica Neue"/>
                <a:ea typeface="Helvetica Neue"/>
                <a:cs typeface="Helvetica Neue"/>
              </a:defRPr>
            </a:pPr>
            <a:r>
              <a:rPr sz="1575" b="0">
                <a:solidFill>
                  <a:srgbClr val="0B0D10"/>
                </a:solidFill>
                <a:latin typeface="Helvetica Neue"/>
                <a:ea typeface="Helvetica Neue"/>
                <a:cs typeface="Helvetica Neue"/>
              </a:rPr>
              <a:t>The 7.3% baseline margin is promising, not established.</a:t>
            </a:r>
          </a:p>
        </p:txBody>
      </p:sp>
    </p:spTree>
    <p:extLst>
      <p:ext uri="{BB962C8B-B14F-4D97-AF65-F5344CB8AC3E}">
        <p14:creationId xmlns:p14="http://schemas.microsoft.com/office/powerpoint/2010/main" val="6253287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E5B70F-4A86-4602-9090-E4E64A44CA8E}"/>
              </a:ext>
            </a:extLst>
          </p:cNvPr>
          <p:cNvSpPr>
            <a:spLocks xmlns:a="http://schemas.openxmlformats.org/drawingml/2006/main" noGrp="1"/>
          </p:cNvSpPr>
          <p:nvPr/>
        </p:nvSpPr>
        <p:spPr>
          <a:xfrm xmlns:a="http://schemas.openxmlformats.org/drawingml/2006/main">
            <a:off x="457200" y="4191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BOTTOM LINE</a:t>
            </a:r>
          </a:p>
        </p:txBody>
      </p:sp>
      <p:sp>
        <p:nvSpPr>
          <p:cNvPr id="2" name="">
            <a:extLst xmlns:a="http://schemas.openxmlformats.org/drawingml/2006/main">
              <a:ext uri="{FF2B5EF4-FFF2-40B4-BE49-F238E27FC236}">
                <a16:creationId xmlns:a16="http://schemas.microsoft.com/office/drawing/2014/main" id="{A6B2482F-7C62-4474-B7DA-B3776DD6E489}"/>
              </a:ext>
            </a:extLst>
          </p:cNvPr>
          <p:cNvSpPr>
            <a:spLocks xmlns:a="http://schemas.openxmlformats.org/drawingml/2006/main" noGrp="1"/>
          </p:cNvSpPr>
          <p:nvPr/>
        </p:nvSpPr>
        <p:spPr>
          <a:xfrm xmlns:a="http://schemas.openxmlformats.org/drawingml/2006/main">
            <a:off x="457200" y="13525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950" b="1">
                <a:solidFill>
                  <a:srgbClr val="0B0D10"/>
                </a:solidFill>
                <a:latin typeface="Helvetica Neue"/>
                <a:ea typeface="Helvetica Neue"/>
                <a:cs typeface="Helvetica Neue"/>
              </a:defRPr>
            </a:pPr>
            <a:r>
              <a:rPr sz="4950" b="1">
                <a:solidFill>
                  <a:srgbClr val="0B0D10"/>
                </a:solidFill>
                <a:latin typeface="Helvetica Neue"/>
                <a:ea typeface="Helvetica Neue"/>
                <a:cs typeface="Helvetica Neue"/>
              </a:rPr>
              <a:t>Advance TFT — then prove it</a:t>
            </a:r>
          </a:p>
        </p:txBody>
      </p:sp>
      <p:sp>
        <p:nvSpPr>
          <p:cNvPr id="3" name="">
            <a:extLst xmlns:a="http://schemas.openxmlformats.org/drawingml/2006/main">
              <a:ext uri="{FF2B5EF4-FFF2-40B4-BE49-F238E27FC236}">
                <a16:creationId xmlns:a16="http://schemas.microsoft.com/office/drawing/2014/main" id="{8AEA6DBC-AB8B-4647-A9C0-B88B51EC6CF2}"/>
              </a:ext>
            </a:extLst>
          </p:cNvPr>
          <p:cNvSpPr>
            <a:spLocks xmlns:a="http://schemas.openxmlformats.org/drawingml/2006/main" noGrp="1"/>
          </p:cNvSpPr>
          <p:nvPr/>
        </p:nvSpPr>
        <p:spPr>
          <a:xfrm xmlns:a="http://schemas.openxmlformats.org/drawingml/2006/main">
            <a:off x="457200" y="29718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7A4CC2"/>
                </a:solidFill>
                <a:latin typeface="Helvetica Neue"/>
                <a:ea typeface="Helvetica Neue"/>
                <a:cs typeface="Helvetica Neue"/>
              </a:defRPr>
            </a:pPr>
            <a:r>
              <a:rPr sz="2325" b="1">
                <a:solidFill>
                  <a:srgbClr val="7A4CC2"/>
                </a:solidFill>
                <a:latin typeface="Helvetica Neue"/>
                <a:ea typeface="Helvetica Neue"/>
                <a:cs typeface="Helvetica Neue"/>
              </a:rPr>
              <a:t>Leading candidate</a:t>
            </a:r>
          </a:p>
        </p:txBody>
      </p:sp>
      <p:sp>
        <p:nvSpPr>
          <p:cNvPr id="4" name="">
            <a:extLst xmlns:a="http://schemas.openxmlformats.org/drawingml/2006/main">
              <a:ext uri="{FF2B5EF4-FFF2-40B4-BE49-F238E27FC236}">
                <a16:creationId xmlns:a16="http://schemas.microsoft.com/office/drawing/2014/main" id="{20019262-6FE6-43E9-976B-55D36AA9237C}"/>
              </a:ext>
            </a:extLst>
          </p:cNvPr>
          <p:cNvSpPr>
            <a:spLocks xmlns:a="http://schemas.openxmlformats.org/drawingml/2006/main" noGrp="1"/>
          </p:cNvSpPr>
          <p:nvPr/>
        </p:nvSpPr>
        <p:spPr>
          <a:xfrm xmlns:a="http://schemas.openxmlformats.org/drawingml/2006/main">
            <a:off x="457200" y="3552825"/>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0B0D10"/>
                </a:solidFill>
                <a:latin typeface="Helvetica Neue"/>
                <a:ea typeface="Helvetica Neue"/>
                <a:cs typeface="Helvetica Neue"/>
              </a:defRPr>
            </a:pPr>
            <a:r>
              <a:rPr sz="1800" b="0">
                <a:solidFill>
                  <a:srgbClr val="0B0D10"/>
                </a:solidFill>
                <a:latin typeface="Helvetica Neue"/>
                <a:ea typeface="Helvetica Neue"/>
                <a:cs typeface="Helvetica Neue"/>
              </a:rPr>
              <a:t>Lowest RMSE and the only model with positive out-of-sample R².</a:t>
            </a:r>
          </a:p>
        </p:txBody>
      </p:sp>
      <p:sp>
        <p:nvSpPr>
          <p:cNvPr id="5" name="">
            <a:extLst xmlns:a="http://schemas.openxmlformats.org/drawingml/2006/main">
              <a:ext uri="{FF2B5EF4-FFF2-40B4-BE49-F238E27FC236}">
                <a16:creationId xmlns:a16="http://schemas.microsoft.com/office/drawing/2014/main" id="{E0A02C21-D4B9-4F91-BDEC-7B9EBC8D613D}"/>
              </a:ext>
            </a:extLst>
          </p:cNvPr>
          <p:cNvSpPr>
            <a:spLocks xmlns:a="http://schemas.openxmlformats.org/drawingml/2006/main" noGrp="1"/>
          </p:cNvSpPr>
          <p:nvPr/>
        </p:nvSpPr>
        <p:spPr>
          <a:xfrm xmlns:a="http://schemas.openxmlformats.org/drawingml/2006/main">
            <a:off x="6286500" y="29718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0B0D10"/>
                </a:solidFill>
                <a:latin typeface="Helvetica Neue"/>
                <a:ea typeface="Helvetica Neue"/>
                <a:cs typeface="Helvetica Neue"/>
              </a:defRPr>
            </a:pPr>
            <a:r>
              <a:rPr sz="2325" b="1">
                <a:solidFill>
                  <a:srgbClr val="0B0D10"/>
                </a:solidFill>
                <a:latin typeface="Helvetica Neue"/>
                <a:ea typeface="Helvetica Neue"/>
                <a:cs typeface="Helvetica Neue"/>
              </a:rPr>
              <a:t>Before production</a:t>
            </a:r>
          </a:p>
        </p:txBody>
      </p:sp>
      <p:sp>
        <p:nvSpPr>
          <p:cNvPr id="6" name="">
            <a:extLst xmlns:a="http://schemas.openxmlformats.org/drawingml/2006/main">
              <a:ext uri="{FF2B5EF4-FFF2-40B4-BE49-F238E27FC236}">
                <a16:creationId xmlns:a16="http://schemas.microsoft.com/office/drawing/2014/main" id="{FC7F719F-67E5-472F-89C4-824A4D31E616}"/>
              </a:ext>
            </a:extLst>
          </p:cNvPr>
          <p:cNvSpPr>
            <a:spLocks xmlns:a="http://schemas.openxmlformats.org/drawingml/2006/main" noGrp="1"/>
          </p:cNvSpPr>
          <p:nvPr/>
        </p:nvSpPr>
        <p:spPr>
          <a:xfrm xmlns:a="http://schemas.openxmlformats.org/drawingml/2006/main">
            <a:off x="6286500" y="3552825"/>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0B0D10"/>
                </a:solidFill>
                <a:latin typeface="Helvetica Neue"/>
                <a:ea typeface="Helvetica Neue"/>
                <a:cs typeface="Helvetica Neue"/>
              </a:defRPr>
            </a:pPr>
            <a:r>
              <a:rPr sz="1800" b="0">
                <a:solidFill>
                  <a:srgbClr val="0B0D10"/>
                </a:solidFill>
                <a:latin typeface="Helvetica Neue"/>
                <a:ea typeface="Helvetica Neue"/>
                <a:cs typeface="Helvetica Neue"/>
              </a:rPr>
              <a:t>Rolling origins · 30/90-day horizons · per-site forecasts · calibrated intervals · naive baselines</a:t>
            </a:r>
          </a:p>
        </p:txBody>
      </p:sp>
      <p:sp>
        <p:nvSpPr>
          <p:cNvPr id="7" name="">
            <a:extLst xmlns:a="http://schemas.openxmlformats.org/drawingml/2006/main">
              <a:ext uri="{FF2B5EF4-FFF2-40B4-BE49-F238E27FC236}">
                <a16:creationId xmlns:a16="http://schemas.microsoft.com/office/drawing/2014/main" id="{D2F83094-D05E-4FAA-9288-0D57D9FF9BD2}"/>
              </a:ext>
            </a:extLst>
          </p:cNvPr>
          <p:cNvSpPr>
            <a:spLocks xmlns:a="http://schemas.openxmlformats.org/drawingml/2006/main" noGrp="1"/>
          </p:cNvSpPr>
          <p:nvPr/>
        </p:nvSpPr>
        <p:spPr>
          <a:xfrm xmlns:a="http://schemas.openxmlformats.org/drawingml/2006/main">
            <a:off x="457200" y="5219700"/>
            <a:ext cx="10896600" cy="762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0D6ED4BA-4C1E-4F21-996A-B53B68EF45DC}"/>
              </a:ext>
            </a:extLst>
          </p:cNvPr>
          <p:cNvSpPr>
            <a:spLocks xmlns:a="http://schemas.openxmlformats.org/drawingml/2006/main" noGrp="1"/>
          </p:cNvSpPr>
          <p:nvPr/>
        </p:nvSpPr>
        <p:spPr>
          <a:xfrm xmlns:a="http://schemas.openxmlformats.org/drawingml/2006/main">
            <a:off x="457200" y="5562600"/>
            <a:ext cx="10896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0B0D10"/>
                </a:solidFill>
                <a:latin typeface="Helvetica Neue"/>
                <a:ea typeface="Helvetica Neue"/>
                <a:cs typeface="Helvetica Neue"/>
              </a:defRPr>
            </a:pPr>
            <a:r>
              <a:rPr sz="2175" b="1">
                <a:solidFill>
                  <a:srgbClr val="0B0D10"/>
                </a:solidFill>
                <a:latin typeface="Helvetica Neue"/>
                <a:ea typeface="Helvetica Neue"/>
                <a:cs typeface="Helvetica Neue"/>
              </a:rPr>
              <a:t>Use TFT for the next experiment, not yet as the final answer.</a:t>
            </a:r>
          </a:p>
        </p:txBody>
      </p:sp>
    </p:spTree>
    <p:extLst>
      <p:ext uri="{BB962C8B-B14F-4D97-AF65-F5344CB8AC3E}">
        <p14:creationId xmlns:p14="http://schemas.microsoft.com/office/powerpoint/2010/main" val="2056787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2026-08-21T01:25:30.5500000Z</dcterms:created>
  <dcterms:modified xsi:type="dcterms:W3CDTF">2026-08-21T01:25:30.5500000Z</dcterms:modified>
</coreProperties>
</file>